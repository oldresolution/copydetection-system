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8" r:id="rId12"/>
    <p:sldId id="266" r:id="rId13"/>
    <p:sldId id="267" r:id="rId14"/>
  </p:sldIdLst>
  <p:sldSz cx="9144000" cy="5143500" type="screen16x9"/>
  <p:notesSz cx="6858000" cy="9144000"/>
  <p:embeddedFontLst>
    <p:embeddedFont>
      <p:font typeface="Arial MT Pro" panose="020B0604020202020204" charset="0"/>
      <p:regular r:id="rId15"/>
    </p:embeddedFont>
    <p:embeddedFont>
      <p:font typeface="Arial MT Pro Bold" panose="020B0604020202020204" charset="0"/>
      <p:regular r:id="rId16"/>
    </p:embeddedFont>
    <p:embeddedFont>
      <p:font typeface="Arimo" panose="020B0604020202020204" charset="0"/>
      <p:regular r:id="rId17"/>
    </p:embeddedFont>
    <p:embeddedFont>
      <p:font typeface="Canva Sans" panose="020B0604020202020204" charset="0"/>
      <p:regular r:id="rId18"/>
    </p:embeddedFont>
    <p:embeddedFont>
      <p:font typeface="Canva Sans Bold" panose="020B0604020202020204" charset="0"/>
      <p:regular r:id="rId19"/>
    </p:embeddedFont>
    <p:embeddedFont>
      <p:font typeface="Times New Roman MT" panose="020B0604020202020204" charset="0"/>
      <p:regular r:id="rId20"/>
    </p:embeddedFont>
    <p:embeddedFont>
      <p:font typeface="Times New Roman MT Bold" panose="020B0604020202020204" charset="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81" d="100"/>
          <a:sy n="81" d="100"/>
        </p:scale>
        <p:origin x="860" y="4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ieeeaccess.ieee.org" TargetMode="External"/><Relationship Id="rId7" Type="http://schemas.openxmlformats.org/officeDocument/2006/relationships/hyperlink" Target="https://dl.acm.org/journal/tois" TargetMode="External"/><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hyperlink" Target="https://tijer.org/ijedr/submitpaper.php" TargetMode="External"/><Relationship Id="rId5" Type="http://schemas.openxmlformats.org/officeDocument/2006/relationships/hyperlink" Target="https://tijer.org/jnrid/" TargetMode="External"/><Relationship Id="rId4" Type="http://schemas.openxmlformats.org/officeDocument/2006/relationships/hyperlink" Target="https://tijer.org/tijer/" TargetMode="Externa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overleaf.com/5125625418kbsqgfsfzgnj#871f9b"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www.researchgate.net/publication/383074637_Innovative_Framework_for_Context-based_Recommendation_using_TF-IDF_and_Cosine_Similarity" TargetMode="External"/><Relationship Id="rId2" Type="http://schemas.openxmlformats.org/officeDocument/2006/relationships/hyperlink" Target="https://www.researchgate.net/publication/271836873_Stylometry-based_Fraud_and_Plagiarism_Detection_for_Learning_at_Scale" TargetMode="External"/><Relationship Id="rId1" Type="http://schemas.openxmlformats.org/officeDocument/2006/relationships/slideLayout" Target="../slideLayouts/slideLayout7.xml"/><Relationship Id="rId5" Type="http://schemas.openxmlformats.org/officeDocument/2006/relationships/image" Target="../media/image1.png"/><Relationship Id="rId4" Type="http://schemas.openxmlformats.org/officeDocument/2006/relationships/hyperlink" Target="https://arxiv.org/abs/2405.10129" TargetMode="Externa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slideLayout" Target="../slideLayouts/slideLayout7.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EEEE"/>
        </a:solidFill>
        <a:effectLst/>
      </p:bgPr>
    </p:bg>
    <p:spTree>
      <p:nvGrpSpPr>
        <p:cNvPr id="1" name=""/>
        <p:cNvGrpSpPr/>
        <p:nvPr/>
      </p:nvGrpSpPr>
      <p:grpSpPr>
        <a:xfrm>
          <a:off x="0" y="0"/>
          <a:ext cx="0" cy="0"/>
          <a:chOff x="0" y="0"/>
          <a:chExt cx="0" cy="0"/>
        </a:xfrm>
      </p:grpSpPr>
      <p:grpSp>
        <p:nvGrpSpPr>
          <p:cNvPr id="2" name="Group 2"/>
          <p:cNvGrpSpPr/>
          <p:nvPr/>
        </p:nvGrpSpPr>
        <p:grpSpPr>
          <a:xfrm>
            <a:off x="1905501" y="2068176"/>
            <a:ext cx="5485379" cy="2703849"/>
            <a:chOff x="0" y="0"/>
            <a:chExt cx="14627678" cy="7210264"/>
          </a:xfrm>
        </p:grpSpPr>
        <p:sp>
          <p:nvSpPr>
            <p:cNvPr id="3" name="Freeform 3"/>
            <p:cNvSpPr/>
            <p:nvPr/>
          </p:nvSpPr>
          <p:spPr>
            <a:xfrm>
              <a:off x="0" y="0"/>
              <a:ext cx="14627679" cy="7210265"/>
            </a:xfrm>
            <a:custGeom>
              <a:avLst/>
              <a:gdLst/>
              <a:ahLst/>
              <a:cxnLst/>
              <a:rect l="l" t="t" r="r" b="b"/>
              <a:pathLst>
                <a:path w="14627679" h="7210265">
                  <a:moveTo>
                    <a:pt x="0" y="0"/>
                  </a:moveTo>
                  <a:lnTo>
                    <a:pt x="14627679" y="0"/>
                  </a:lnTo>
                  <a:lnTo>
                    <a:pt x="14627679" y="7210265"/>
                  </a:lnTo>
                  <a:lnTo>
                    <a:pt x="0" y="7210265"/>
                  </a:lnTo>
                  <a:close/>
                </a:path>
              </a:pathLst>
            </a:custGeom>
          </p:spPr>
        </p:sp>
        <p:sp>
          <p:nvSpPr>
            <p:cNvPr id="4" name="TextBox 4"/>
            <p:cNvSpPr txBox="1"/>
            <p:nvPr/>
          </p:nvSpPr>
          <p:spPr>
            <a:xfrm>
              <a:off x="0" y="-47625"/>
              <a:ext cx="14627678" cy="7257889"/>
            </a:xfrm>
            <a:prstGeom prst="rect">
              <a:avLst/>
            </a:prstGeom>
          </p:spPr>
          <p:txBody>
            <a:bodyPr lIns="0" tIns="0" rIns="0" bIns="0" rtlCol="0" anchor="t"/>
            <a:lstStyle/>
            <a:p>
              <a:pPr algn="ctr">
                <a:lnSpc>
                  <a:spcPts val="2400"/>
                </a:lnSpc>
              </a:pPr>
              <a:r>
                <a:rPr lang="en-US" sz="2000" b="1">
                  <a:solidFill>
                    <a:srgbClr val="595959"/>
                  </a:solidFill>
                  <a:latin typeface="Arial MT Pro Bold"/>
                  <a:ea typeface="Arial MT Pro Bold"/>
                  <a:cs typeface="Arial MT Pro Bold"/>
                  <a:sym typeface="Arial MT Pro Bold"/>
                </a:rPr>
                <a:t>Supervisor : Prof. Aruna Khubalkar</a:t>
              </a:r>
            </a:p>
            <a:p>
              <a:pPr algn="ctr">
                <a:lnSpc>
                  <a:spcPts val="3359"/>
                </a:lnSpc>
              </a:pPr>
              <a:endParaRPr lang="en-US" sz="2000" b="1">
                <a:solidFill>
                  <a:srgbClr val="595959"/>
                </a:solidFill>
                <a:latin typeface="Arial MT Pro Bold"/>
                <a:ea typeface="Arial MT Pro Bold"/>
                <a:cs typeface="Arial MT Pro Bold"/>
                <a:sym typeface="Arial MT Pro Bold"/>
              </a:endParaRPr>
            </a:p>
            <a:p>
              <a:pPr algn="ctr">
                <a:lnSpc>
                  <a:spcPts val="2400"/>
                </a:lnSpc>
              </a:pPr>
              <a:r>
                <a:rPr lang="en-US" sz="2000">
                  <a:solidFill>
                    <a:srgbClr val="595959"/>
                  </a:solidFill>
                  <a:latin typeface="Arial MT Pro"/>
                  <a:ea typeface="Arial MT Pro"/>
                  <a:cs typeface="Arial MT Pro"/>
                  <a:sym typeface="Arial MT Pro"/>
                </a:rPr>
                <a:t> 09 Glen John   </a:t>
              </a:r>
            </a:p>
            <a:p>
              <a:pPr algn="ctr">
                <a:lnSpc>
                  <a:spcPts val="2400"/>
                </a:lnSpc>
              </a:pPr>
              <a:r>
                <a:rPr lang="en-US" sz="2000">
                  <a:solidFill>
                    <a:srgbClr val="595959"/>
                  </a:solidFill>
                  <a:latin typeface="Arial MT Pro"/>
                  <a:ea typeface="Arial MT Pro"/>
                  <a:cs typeface="Arial MT Pro"/>
                  <a:sym typeface="Arial MT Pro"/>
                </a:rPr>
                <a:t>45 John Joy    </a:t>
              </a:r>
            </a:p>
            <a:p>
              <a:pPr algn="ctr">
                <a:lnSpc>
                  <a:spcPts val="2400"/>
                </a:lnSpc>
              </a:pPr>
              <a:r>
                <a:rPr lang="en-US" sz="2000">
                  <a:solidFill>
                    <a:srgbClr val="595959"/>
                  </a:solidFill>
                  <a:latin typeface="Arial MT Pro"/>
                  <a:ea typeface="Arial MT Pro"/>
                  <a:cs typeface="Arial MT Pro"/>
                  <a:sym typeface="Arial MT Pro"/>
                </a:rPr>
                <a:t>      46 Joseph Antony </a:t>
              </a:r>
            </a:p>
            <a:p>
              <a:pPr algn="ctr">
                <a:lnSpc>
                  <a:spcPts val="2400"/>
                </a:lnSpc>
              </a:pPr>
              <a:r>
                <a:rPr lang="en-US" sz="2000">
                  <a:solidFill>
                    <a:srgbClr val="595959"/>
                  </a:solidFill>
                  <a:latin typeface="Arial MT Pro"/>
                  <a:ea typeface="Arial MT Pro"/>
                  <a:cs typeface="Arial MT Pro"/>
                  <a:sym typeface="Arial MT Pro"/>
                </a:rPr>
                <a:t>      51 Savin Johnson </a:t>
              </a:r>
            </a:p>
          </p:txBody>
        </p:sp>
      </p:grpSp>
      <p:grpSp>
        <p:nvGrpSpPr>
          <p:cNvPr id="5" name="Group 5"/>
          <p:cNvGrpSpPr/>
          <p:nvPr/>
        </p:nvGrpSpPr>
        <p:grpSpPr>
          <a:xfrm>
            <a:off x="8108980" y="0"/>
            <a:ext cx="1035020" cy="1058979"/>
            <a:chOff x="0" y="0"/>
            <a:chExt cx="2760054" cy="2823945"/>
          </a:xfrm>
        </p:grpSpPr>
        <p:sp>
          <p:nvSpPr>
            <p:cNvPr id="6" name="Freeform 6"/>
            <p:cNvSpPr/>
            <p:nvPr/>
          </p:nvSpPr>
          <p:spPr>
            <a:xfrm>
              <a:off x="14339" y="14671"/>
              <a:ext cx="2731259" cy="2794484"/>
            </a:xfrm>
            <a:custGeom>
              <a:avLst/>
              <a:gdLst/>
              <a:ahLst/>
              <a:cxnLst/>
              <a:rect l="l" t="t" r="r" b="b"/>
              <a:pathLst>
                <a:path w="2731259" h="2794484">
                  <a:moveTo>
                    <a:pt x="0" y="1397241"/>
                  </a:moveTo>
                  <a:cubicBezTo>
                    <a:pt x="0" y="625560"/>
                    <a:pt x="611407" y="0"/>
                    <a:pt x="1365629" y="0"/>
                  </a:cubicBezTo>
                  <a:cubicBezTo>
                    <a:pt x="2119851" y="0"/>
                    <a:pt x="2731258" y="625560"/>
                    <a:pt x="2731258" y="1397241"/>
                  </a:cubicBezTo>
                  <a:cubicBezTo>
                    <a:pt x="2731258" y="2168923"/>
                    <a:pt x="2119851" y="2794483"/>
                    <a:pt x="1365629" y="2794483"/>
                  </a:cubicBezTo>
                  <a:cubicBezTo>
                    <a:pt x="611407" y="2794483"/>
                    <a:pt x="0" y="2169070"/>
                    <a:pt x="0" y="1397241"/>
                  </a:cubicBezTo>
                  <a:close/>
                </a:path>
              </a:pathLst>
            </a:custGeom>
            <a:solidFill>
              <a:srgbClr val="EEEEEE"/>
            </a:solidFill>
          </p:spPr>
        </p:sp>
        <p:sp>
          <p:nvSpPr>
            <p:cNvPr id="7" name="Freeform 7"/>
            <p:cNvSpPr/>
            <p:nvPr/>
          </p:nvSpPr>
          <p:spPr>
            <a:xfrm>
              <a:off x="0" y="0"/>
              <a:ext cx="2759936" cy="2823825"/>
            </a:xfrm>
            <a:custGeom>
              <a:avLst/>
              <a:gdLst/>
              <a:ahLst/>
              <a:cxnLst/>
              <a:rect l="l" t="t" r="r" b="b"/>
              <a:pathLst>
                <a:path w="2759936" h="2823825">
                  <a:moveTo>
                    <a:pt x="0" y="1411912"/>
                  </a:moveTo>
                  <a:cubicBezTo>
                    <a:pt x="0" y="632162"/>
                    <a:pt x="617860" y="0"/>
                    <a:pt x="1379968" y="0"/>
                  </a:cubicBezTo>
                  <a:lnTo>
                    <a:pt x="1379968" y="14671"/>
                  </a:lnTo>
                  <a:lnTo>
                    <a:pt x="1379968" y="0"/>
                  </a:lnTo>
                  <a:cubicBezTo>
                    <a:pt x="2142076" y="0"/>
                    <a:pt x="2759936" y="632162"/>
                    <a:pt x="2759936" y="1411912"/>
                  </a:cubicBezTo>
                  <a:lnTo>
                    <a:pt x="2745597" y="1411912"/>
                  </a:lnTo>
                  <a:lnTo>
                    <a:pt x="2759936" y="1411912"/>
                  </a:lnTo>
                  <a:cubicBezTo>
                    <a:pt x="2759936" y="2191663"/>
                    <a:pt x="2142076" y="2823825"/>
                    <a:pt x="1379968" y="2823825"/>
                  </a:cubicBezTo>
                  <a:lnTo>
                    <a:pt x="1379968" y="2809154"/>
                  </a:lnTo>
                  <a:lnTo>
                    <a:pt x="1379968" y="2823825"/>
                  </a:lnTo>
                  <a:cubicBezTo>
                    <a:pt x="617860" y="2823968"/>
                    <a:pt x="0" y="2191809"/>
                    <a:pt x="0" y="1411912"/>
                  </a:cubicBezTo>
                  <a:lnTo>
                    <a:pt x="14339" y="1411912"/>
                  </a:lnTo>
                  <a:lnTo>
                    <a:pt x="28678" y="1411912"/>
                  </a:lnTo>
                  <a:lnTo>
                    <a:pt x="14339" y="1411912"/>
                  </a:lnTo>
                  <a:lnTo>
                    <a:pt x="0" y="1411912"/>
                  </a:lnTo>
                  <a:moveTo>
                    <a:pt x="28678" y="1411912"/>
                  </a:moveTo>
                  <a:cubicBezTo>
                    <a:pt x="28678" y="1419981"/>
                    <a:pt x="22225" y="1426583"/>
                    <a:pt x="14339" y="1426583"/>
                  </a:cubicBezTo>
                  <a:cubicBezTo>
                    <a:pt x="6452" y="1426583"/>
                    <a:pt x="0" y="1419981"/>
                    <a:pt x="0" y="1411912"/>
                  </a:cubicBezTo>
                  <a:cubicBezTo>
                    <a:pt x="0" y="1403844"/>
                    <a:pt x="6452" y="1397242"/>
                    <a:pt x="14339" y="1397242"/>
                  </a:cubicBezTo>
                  <a:cubicBezTo>
                    <a:pt x="22225" y="1397242"/>
                    <a:pt x="28678" y="1403844"/>
                    <a:pt x="28678" y="1411912"/>
                  </a:cubicBezTo>
                  <a:cubicBezTo>
                    <a:pt x="28678" y="2175525"/>
                    <a:pt x="633632" y="2794483"/>
                    <a:pt x="1379968" y="2794483"/>
                  </a:cubicBezTo>
                  <a:cubicBezTo>
                    <a:pt x="2126304" y="2794483"/>
                    <a:pt x="2731258" y="2175525"/>
                    <a:pt x="2731258" y="1411912"/>
                  </a:cubicBezTo>
                  <a:cubicBezTo>
                    <a:pt x="2731258" y="648300"/>
                    <a:pt x="2126304" y="29341"/>
                    <a:pt x="1379968" y="29341"/>
                  </a:cubicBezTo>
                  <a:lnTo>
                    <a:pt x="1379968" y="14671"/>
                  </a:lnTo>
                  <a:lnTo>
                    <a:pt x="1379968" y="29341"/>
                  </a:lnTo>
                  <a:cubicBezTo>
                    <a:pt x="633632" y="29341"/>
                    <a:pt x="28678" y="648300"/>
                    <a:pt x="28678" y="1411912"/>
                  </a:cubicBezTo>
                  <a:close/>
                </a:path>
              </a:pathLst>
            </a:custGeom>
            <a:solidFill>
              <a:srgbClr val="595959"/>
            </a:solidFill>
          </p:spPr>
        </p:sp>
        <p:sp>
          <p:nvSpPr>
            <p:cNvPr id="8" name="TextBox 8"/>
            <p:cNvSpPr txBox="1"/>
            <p:nvPr/>
          </p:nvSpPr>
          <p:spPr>
            <a:xfrm>
              <a:off x="0" y="-47625"/>
              <a:ext cx="2760054" cy="2871570"/>
            </a:xfrm>
            <a:prstGeom prst="rect">
              <a:avLst/>
            </a:prstGeom>
          </p:spPr>
          <p:txBody>
            <a:bodyPr lIns="25400" tIns="25400" rIns="25400" bIns="25400" rtlCol="0" anchor="ctr"/>
            <a:lstStyle/>
            <a:p>
              <a:pPr algn="ctr">
                <a:lnSpc>
                  <a:spcPts val="2400"/>
                </a:lnSpc>
              </a:pPr>
              <a:r>
                <a:rPr lang="en-US" sz="2000">
                  <a:solidFill>
                    <a:srgbClr val="000000"/>
                  </a:solidFill>
                  <a:latin typeface="Times New Roman MT"/>
                  <a:ea typeface="Times New Roman MT"/>
                  <a:cs typeface="Times New Roman MT"/>
                  <a:sym typeface="Times New Roman MT"/>
                </a:rPr>
                <a:t>15</a:t>
              </a:r>
            </a:p>
          </p:txBody>
        </p:sp>
      </p:grpSp>
      <p:sp>
        <p:nvSpPr>
          <p:cNvPr id="9" name="Freeform 9"/>
          <p:cNvSpPr/>
          <p:nvPr/>
        </p:nvSpPr>
        <p:spPr>
          <a:xfrm>
            <a:off x="0" y="-16851"/>
            <a:ext cx="1089461" cy="1136036"/>
          </a:xfrm>
          <a:custGeom>
            <a:avLst/>
            <a:gdLst/>
            <a:ahLst/>
            <a:cxnLst/>
            <a:rect l="l" t="t" r="r" b="b"/>
            <a:pathLst>
              <a:path w="1089461" h="1136036">
                <a:moveTo>
                  <a:pt x="0" y="0"/>
                </a:moveTo>
                <a:lnTo>
                  <a:pt x="1089461" y="0"/>
                </a:lnTo>
                <a:lnTo>
                  <a:pt x="1089461" y="1136036"/>
                </a:lnTo>
                <a:lnTo>
                  <a:pt x="0" y="1136036"/>
                </a:lnTo>
                <a:lnTo>
                  <a:pt x="0" y="0"/>
                </a:lnTo>
                <a:close/>
              </a:path>
            </a:pathLst>
          </a:custGeom>
          <a:blipFill>
            <a:blip r:embed="rId2"/>
            <a:stretch>
              <a:fillRect l="-2670" t="-1023" r="-2670"/>
            </a:stretch>
          </a:blipFill>
        </p:spPr>
      </p:sp>
      <p:sp>
        <p:nvSpPr>
          <p:cNvPr id="10" name="TextBox 10"/>
          <p:cNvSpPr txBox="1"/>
          <p:nvPr/>
        </p:nvSpPr>
        <p:spPr>
          <a:xfrm>
            <a:off x="1035020" y="523020"/>
            <a:ext cx="7073960" cy="1216025"/>
          </a:xfrm>
          <a:prstGeom prst="rect">
            <a:avLst/>
          </a:prstGeom>
        </p:spPr>
        <p:txBody>
          <a:bodyPr lIns="0" tIns="0" rIns="0" bIns="0" rtlCol="0" anchor="t">
            <a:spAutoFit/>
          </a:bodyPr>
          <a:lstStyle/>
          <a:p>
            <a:pPr algn="ctr">
              <a:lnSpc>
                <a:spcPts val="4900"/>
              </a:lnSpc>
            </a:pPr>
            <a:r>
              <a:rPr lang="en-US" sz="3500" b="1">
                <a:solidFill>
                  <a:srgbClr val="000000"/>
                </a:solidFill>
                <a:latin typeface="Canva Sans Bold"/>
                <a:ea typeface="Canva Sans Bold"/>
                <a:cs typeface="Canva Sans Bold"/>
                <a:sym typeface="Canva Sans Bold"/>
              </a:rPr>
              <a:t>Copyright Detection in Books</a:t>
            </a:r>
          </a:p>
          <a:p>
            <a:pPr algn="ctr">
              <a:lnSpc>
                <a:spcPts val="4900"/>
              </a:lnSpc>
            </a:pPr>
            <a:r>
              <a:rPr lang="en-US" sz="3500" b="1">
                <a:solidFill>
                  <a:srgbClr val="000000"/>
                </a:solidFill>
                <a:latin typeface="Canva Sans Bold"/>
                <a:ea typeface="Canva Sans Bold"/>
                <a:cs typeface="Canva Sans Bold"/>
                <a:sym typeface="Canva Sans Bold"/>
              </a:rPr>
              <a:t> in Generative AI</a:t>
            </a:r>
          </a:p>
        </p:txBody>
      </p:sp>
      <p:sp>
        <p:nvSpPr>
          <p:cNvPr id="11" name="TextBox 11"/>
          <p:cNvSpPr txBox="1"/>
          <p:nvPr/>
        </p:nvSpPr>
        <p:spPr>
          <a:xfrm>
            <a:off x="2616918" y="106245"/>
            <a:ext cx="4773961" cy="230832"/>
          </a:xfrm>
          <a:prstGeom prst="rect">
            <a:avLst/>
          </a:prstGeom>
        </p:spPr>
        <p:txBody>
          <a:bodyPr wrap="square" lIns="0" tIns="0" rIns="0" bIns="0" rtlCol="0" anchor="t">
            <a:spAutoFit/>
          </a:bodyPr>
          <a:lstStyle/>
          <a:p>
            <a:pPr algn="ctr">
              <a:lnSpc>
                <a:spcPts val="1800"/>
              </a:lnSpc>
              <a:spcBef>
                <a:spcPct val="0"/>
              </a:spcBef>
            </a:pPr>
            <a:r>
              <a:rPr lang="en-US" sz="1500" dirty="0">
                <a:solidFill>
                  <a:srgbClr val="000000"/>
                </a:solidFill>
                <a:latin typeface="Times New Roman MT"/>
                <a:ea typeface="Times New Roman MT"/>
                <a:cs typeface="Times New Roman MT"/>
                <a:sym typeface="Times New Roman MT"/>
              </a:rPr>
              <a:t>B.E.(I.T.) / Sem VIII / MAJOR PROJECT II-2025-26</a:t>
            </a:r>
          </a:p>
        </p:txBody>
      </p:sp>
      <p:sp>
        <p:nvSpPr>
          <p:cNvPr id="12" name="TextBox 12"/>
          <p:cNvSpPr txBox="1"/>
          <p:nvPr/>
        </p:nvSpPr>
        <p:spPr>
          <a:xfrm>
            <a:off x="8918207" y="4882825"/>
            <a:ext cx="152400" cy="171450"/>
          </a:xfrm>
          <a:prstGeom prst="rect">
            <a:avLst/>
          </a:prstGeom>
        </p:spPr>
        <p:txBody>
          <a:bodyPr wrap="none" lIns="0" tIns="0" rIns="0" bIns="0" rtlCol="0" anchor="t">
            <a:spAutoFit/>
          </a:bodyPr>
          <a:lstStyle/>
          <a:p>
            <a:pPr algn="ctr">
              <a:lnSpc>
                <a:spcPts val="1540"/>
              </a:lnSpc>
              <a:spcBef>
                <a:spcPct val="0"/>
              </a:spcBef>
            </a:pPr>
            <a:r>
              <a:rPr lang="en-US" sz="1100">
                <a:solidFill>
                  <a:srgbClr val="000000"/>
                </a:solidFill>
                <a:latin typeface="Canva Sans"/>
                <a:ea typeface="Canva Sans"/>
                <a:cs typeface="Canva Sans"/>
                <a:sym typeface="Canva Sans"/>
              </a:rPr>
              <a:t>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62" y="-4762"/>
            <a:ext cx="9153525" cy="5153025"/>
            <a:chOff x="0" y="0"/>
            <a:chExt cx="24409400" cy="13741400"/>
          </a:xfrm>
        </p:grpSpPr>
        <p:sp>
          <p:nvSpPr>
            <p:cNvPr id="3" name="Freeform 3"/>
            <p:cNvSpPr/>
            <p:nvPr/>
          </p:nvSpPr>
          <p:spPr>
            <a:xfrm>
              <a:off x="12700" y="1270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EEEEE"/>
            </a:solidFill>
          </p:spPr>
        </p:sp>
        <p:sp>
          <p:nvSpPr>
            <p:cNvPr id="4" name="Freeform 4"/>
            <p:cNvSpPr/>
            <p:nvPr/>
          </p:nvSpPr>
          <p:spPr>
            <a:xfrm>
              <a:off x="0" y="0"/>
              <a:ext cx="24409400" cy="13741400"/>
            </a:xfrm>
            <a:custGeom>
              <a:avLst/>
              <a:gdLst/>
              <a:ahLst/>
              <a:cxnLst/>
              <a:rect l="l" t="t" r="r" b="b"/>
              <a:pathLst>
                <a:path w="24409400" h="13741400">
                  <a:moveTo>
                    <a:pt x="12700" y="0"/>
                  </a:moveTo>
                  <a:lnTo>
                    <a:pt x="24396700" y="0"/>
                  </a:lnTo>
                  <a:cubicBezTo>
                    <a:pt x="24403686" y="0"/>
                    <a:pt x="24409400" y="5715"/>
                    <a:pt x="24409400" y="12700"/>
                  </a:cubicBezTo>
                  <a:lnTo>
                    <a:pt x="24409400" y="13728700"/>
                  </a:lnTo>
                  <a:cubicBezTo>
                    <a:pt x="24409400" y="13735686"/>
                    <a:pt x="24403686" y="13741400"/>
                    <a:pt x="24396700" y="13741400"/>
                  </a:cubicBezTo>
                  <a:lnTo>
                    <a:pt x="12700" y="13741400"/>
                  </a:lnTo>
                  <a:cubicBezTo>
                    <a:pt x="5715" y="13741400"/>
                    <a:pt x="0" y="13735686"/>
                    <a:pt x="0" y="13728700"/>
                  </a:cubicBezTo>
                  <a:lnTo>
                    <a:pt x="0" y="12700"/>
                  </a:lnTo>
                  <a:cubicBezTo>
                    <a:pt x="0" y="5715"/>
                    <a:pt x="5715" y="0"/>
                    <a:pt x="12700" y="0"/>
                  </a:cubicBezTo>
                  <a:moveTo>
                    <a:pt x="12700" y="25400"/>
                  </a:moveTo>
                  <a:lnTo>
                    <a:pt x="12700" y="12700"/>
                  </a:lnTo>
                  <a:lnTo>
                    <a:pt x="25400" y="12700"/>
                  </a:lnTo>
                  <a:lnTo>
                    <a:pt x="25400" y="13728700"/>
                  </a:lnTo>
                  <a:lnTo>
                    <a:pt x="12700" y="13728700"/>
                  </a:lnTo>
                  <a:lnTo>
                    <a:pt x="12700" y="13716000"/>
                  </a:lnTo>
                  <a:lnTo>
                    <a:pt x="24396700" y="13716000"/>
                  </a:lnTo>
                  <a:lnTo>
                    <a:pt x="24396700" y="13728700"/>
                  </a:lnTo>
                  <a:lnTo>
                    <a:pt x="24384000" y="13728700"/>
                  </a:lnTo>
                  <a:lnTo>
                    <a:pt x="24384000" y="12700"/>
                  </a:lnTo>
                  <a:lnTo>
                    <a:pt x="24396700" y="12700"/>
                  </a:lnTo>
                  <a:lnTo>
                    <a:pt x="24396700" y="25400"/>
                  </a:lnTo>
                  <a:lnTo>
                    <a:pt x="12700" y="25400"/>
                  </a:lnTo>
                  <a:close/>
                </a:path>
              </a:pathLst>
            </a:custGeom>
            <a:solidFill>
              <a:srgbClr val="595959"/>
            </a:solidFill>
          </p:spPr>
        </p:sp>
      </p:grpSp>
      <p:grpSp>
        <p:nvGrpSpPr>
          <p:cNvPr id="5" name="Group 5"/>
          <p:cNvGrpSpPr/>
          <p:nvPr/>
        </p:nvGrpSpPr>
        <p:grpSpPr>
          <a:xfrm>
            <a:off x="311700" y="445025"/>
            <a:ext cx="8520600" cy="707400"/>
            <a:chOff x="0" y="0"/>
            <a:chExt cx="22721600" cy="1886400"/>
          </a:xfrm>
        </p:grpSpPr>
        <p:sp>
          <p:nvSpPr>
            <p:cNvPr id="6" name="Freeform 6"/>
            <p:cNvSpPr/>
            <p:nvPr/>
          </p:nvSpPr>
          <p:spPr>
            <a:xfrm>
              <a:off x="0" y="0"/>
              <a:ext cx="22721601" cy="1886400"/>
            </a:xfrm>
            <a:custGeom>
              <a:avLst/>
              <a:gdLst/>
              <a:ahLst/>
              <a:cxnLst/>
              <a:rect l="l" t="t" r="r" b="b"/>
              <a:pathLst>
                <a:path w="22721601" h="1886400">
                  <a:moveTo>
                    <a:pt x="0" y="0"/>
                  </a:moveTo>
                  <a:lnTo>
                    <a:pt x="22721601" y="0"/>
                  </a:lnTo>
                  <a:lnTo>
                    <a:pt x="22721601" y="1886400"/>
                  </a:lnTo>
                  <a:lnTo>
                    <a:pt x="0" y="1886400"/>
                  </a:lnTo>
                  <a:close/>
                </a:path>
              </a:pathLst>
            </a:custGeom>
          </p:spPr>
        </p:sp>
        <p:sp>
          <p:nvSpPr>
            <p:cNvPr id="7" name="TextBox 7"/>
            <p:cNvSpPr txBox="1"/>
            <p:nvPr/>
          </p:nvSpPr>
          <p:spPr>
            <a:xfrm>
              <a:off x="0" y="-76200"/>
              <a:ext cx="22721600" cy="1962600"/>
            </a:xfrm>
            <a:prstGeom prst="rect">
              <a:avLst/>
            </a:prstGeom>
          </p:spPr>
          <p:txBody>
            <a:bodyPr lIns="0" tIns="0" rIns="0" bIns="0" rtlCol="0" anchor="t"/>
            <a:lstStyle/>
            <a:p>
              <a:pPr algn="ctr">
                <a:lnSpc>
                  <a:spcPts val="4200"/>
                </a:lnSpc>
              </a:pPr>
              <a:r>
                <a:rPr lang="en-US" sz="3500">
                  <a:solidFill>
                    <a:srgbClr val="000000"/>
                  </a:solidFill>
                  <a:latin typeface="Arial MT Pro"/>
                  <a:ea typeface="Arial MT Pro"/>
                  <a:cs typeface="Arial MT Pro"/>
                  <a:sym typeface="Arial MT Pro"/>
                </a:rPr>
                <a:t>Problem Statement</a:t>
              </a:r>
            </a:p>
          </p:txBody>
        </p:sp>
      </p:grpSp>
      <p:grpSp>
        <p:nvGrpSpPr>
          <p:cNvPr id="8" name="Group 8"/>
          <p:cNvGrpSpPr/>
          <p:nvPr/>
        </p:nvGrpSpPr>
        <p:grpSpPr>
          <a:xfrm>
            <a:off x="820267" y="1614242"/>
            <a:ext cx="7926541" cy="3143775"/>
            <a:chOff x="0" y="0"/>
            <a:chExt cx="21137442" cy="8383401"/>
          </a:xfrm>
        </p:grpSpPr>
        <p:sp>
          <p:nvSpPr>
            <p:cNvPr id="9" name="Freeform 9"/>
            <p:cNvSpPr/>
            <p:nvPr/>
          </p:nvSpPr>
          <p:spPr>
            <a:xfrm>
              <a:off x="0" y="0"/>
              <a:ext cx="21137443" cy="8383401"/>
            </a:xfrm>
            <a:custGeom>
              <a:avLst/>
              <a:gdLst/>
              <a:ahLst/>
              <a:cxnLst/>
              <a:rect l="l" t="t" r="r" b="b"/>
              <a:pathLst>
                <a:path w="21137443" h="8383401">
                  <a:moveTo>
                    <a:pt x="0" y="0"/>
                  </a:moveTo>
                  <a:lnTo>
                    <a:pt x="21137443" y="0"/>
                  </a:lnTo>
                  <a:lnTo>
                    <a:pt x="21137443" y="8383401"/>
                  </a:lnTo>
                  <a:lnTo>
                    <a:pt x="0" y="8383401"/>
                  </a:lnTo>
                  <a:close/>
                </a:path>
              </a:pathLst>
            </a:custGeom>
          </p:spPr>
        </p:sp>
        <p:sp>
          <p:nvSpPr>
            <p:cNvPr id="10" name="TextBox 10"/>
            <p:cNvSpPr txBox="1"/>
            <p:nvPr/>
          </p:nvSpPr>
          <p:spPr>
            <a:xfrm>
              <a:off x="0" y="-76200"/>
              <a:ext cx="21137442" cy="8459601"/>
            </a:xfrm>
            <a:prstGeom prst="rect">
              <a:avLst/>
            </a:prstGeom>
          </p:spPr>
          <p:txBody>
            <a:bodyPr lIns="0" tIns="0" rIns="0" bIns="0" rtlCol="0" anchor="t"/>
            <a:lstStyle/>
            <a:p>
              <a:pPr algn="just">
                <a:lnSpc>
                  <a:spcPts val="2759"/>
                </a:lnSpc>
              </a:pPr>
              <a:r>
                <a:rPr lang="en-US" sz="1999">
                  <a:solidFill>
                    <a:srgbClr val="595959"/>
                  </a:solidFill>
                  <a:latin typeface="Arial MT Pro"/>
                  <a:ea typeface="Arial MT Pro"/>
                  <a:cs typeface="Arial MT Pro"/>
                  <a:sym typeface="Arial MT Pro"/>
                </a:rPr>
                <a:t>Generative AI models can unknowingly reproduce or mimic copyrighted content from their training data, raising legal and ethical concerns. This project aims to detect potential copyright infringement of English Literature in AI-generated text even without access to the original training dataset.</a:t>
              </a:r>
            </a:p>
          </p:txBody>
        </p:sp>
      </p:grpSp>
      <p:sp>
        <p:nvSpPr>
          <p:cNvPr id="11" name="Freeform 11"/>
          <p:cNvSpPr/>
          <p:nvPr/>
        </p:nvSpPr>
        <p:spPr>
          <a:xfrm>
            <a:off x="0" y="0"/>
            <a:ext cx="971943" cy="1013493"/>
          </a:xfrm>
          <a:custGeom>
            <a:avLst/>
            <a:gdLst/>
            <a:ahLst/>
            <a:cxnLst/>
            <a:rect l="l" t="t" r="r" b="b"/>
            <a:pathLst>
              <a:path w="971943" h="1013493">
                <a:moveTo>
                  <a:pt x="0" y="0"/>
                </a:moveTo>
                <a:lnTo>
                  <a:pt x="971943" y="0"/>
                </a:lnTo>
                <a:lnTo>
                  <a:pt x="971943" y="1013493"/>
                </a:lnTo>
                <a:lnTo>
                  <a:pt x="0" y="1013493"/>
                </a:lnTo>
                <a:lnTo>
                  <a:pt x="0" y="0"/>
                </a:lnTo>
                <a:close/>
              </a:path>
            </a:pathLst>
          </a:custGeom>
          <a:blipFill>
            <a:blip r:embed="rId2"/>
            <a:stretch>
              <a:fillRect l="-2670" t="-1023" r="-2670"/>
            </a:stretch>
          </a:blipFill>
        </p:spPr>
      </p:sp>
      <p:sp>
        <p:nvSpPr>
          <p:cNvPr id="12" name="TextBox 12"/>
          <p:cNvSpPr txBox="1"/>
          <p:nvPr/>
        </p:nvSpPr>
        <p:spPr>
          <a:xfrm>
            <a:off x="2616918" y="106245"/>
            <a:ext cx="4545881" cy="230832"/>
          </a:xfrm>
          <a:prstGeom prst="rect">
            <a:avLst/>
          </a:prstGeom>
        </p:spPr>
        <p:txBody>
          <a:bodyPr wrap="square" lIns="0" tIns="0" rIns="0" bIns="0" rtlCol="0" anchor="t">
            <a:spAutoFit/>
          </a:bodyPr>
          <a:lstStyle/>
          <a:p>
            <a:pPr algn="ctr">
              <a:lnSpc>
                <a:spcPts val="1800"/>
              </a:lnSpc>
              <a:spcBef>
                <a:spcPct val="0"/>
              </a:spcBef>
            </a:pPr>
            <a:r>
              <a:rPr lang="en-US" sz="1500" dirty="0">
                <a:solidFill>
                  <a:srgbClr val="000000"/>
                </a:solidFill>
                <a:latin typeface="Times New Roman MT"/>
                <a:ea typeface="Times New Roman MT"/>
                <a:cs typeface="Times New Roman MT"/>
                <a:sym typeface="Times New Roman MT"/>
              </a:rPr>
              <a:t>B.E.(I.T.) / Sem VIII / MAJOR PROJECT II-2025-26</a:t>
            </a:r>
          </a:p>
        </p:txBody>
      </p:sp>
      <p:grpSp>
        <p:nvGrpSpPr>
          <p:cNvPr id="13" name="Group 13"/>
          <p:cNvGrpSpPr/>
          <p:nvPr/>
        </p:nvGrpSpPr>
        <p:grpSpPr>
          <a:xfrm>
            <a:off x="8327115" y="25155"/>
            <a:ext cx="816885" cy="850606"/>
            <a:chOff x="0" y="0"/>
            <a:chExt cx="2595506" cy="2702649"/>
          </a:xfrm>
        </p:grpSpPr>
        <p:sp>
          <p:nvSpPr>
            <p:cNvPr id="14" name="Freeform 14"/>
            <p:cNvSpPr/>
            <p:nvPr/>
          </p:nvSpPr>
          <p:spPr>
            <a:xfrm>
              <a:off x="13484" y="14041"/>
              <a:ext cx="2568427" cy="2674453"/>
            </a:xfrm>
            <a:custGeom>
              <a:avLst/>
              <a:gdLst/>
              <a:ahLst/>
              <a:cxnLst/>
              <a:rect l="l" t="t" r="r" b="b"/>
              <a:pathLst>
                <a:path w="2568427" h="2674453">
                  <a:moveTo>
                    <a:pt x="0" y="1337226"/>
                  </a:moveTo>
                  <a:cubicBezTo>
                    <a:pt x="0" y="598691"/>
                    <a:pt x="574957" y="0"/>
                    <a:pt x="1284214" y="0"/>
                  </a:cubicBezTo>
                  <a:cubicBezTo>
                    <a:pt x="1993471" y="0"/>
                    <a:pt x="2568427" y="598691"/>
                    <a:pt x="2568427" y="1337226"/>
                  </a:cubicBezTo>
                  <a:cubicBezTo>
                    <a:pt x="2568427" y="2075761"/>
                    <a:pt x="1993471" y="2674453"/>
                    <a:pt x="1284214" y="2674453"/>
                  </a:cubicBezTo>
                  <a:cubicBezTo>
                    <a:pt x="574957" y="2674453"/>
                    <a:pt x="0" y="2075902"/>
                    <a:pt x="0" y="1337226"/>
                  </a:cubicBezTo>
                  <a:close/>
                </a:path>
              </a:pathLst>
            </a:custGeom>
            <a:solidFill>
              <a:srgbClr val="EEEEEE"/>
            </a:solidFill>
          </p:spPr>
        </p:sp>
        <p:sp>
          <p:nvSpPr>
            <p:cNvPr id="15" name="Freeform 15"/>
            <p:cNvSpPr/>
            <p:nvPr/>
          </p:nvSpPr>
          <p:spPr>
            <a:xfrm>
              <a:off x="0" y="0"/>
              <a:ext cx="2595395" cy="2702534"/>
            </a:xfrm>
            <a:custGeom>
              <a:avLst/>
              <a:gdLst/>
              <a:ahLst/>
              <a:cxnLst/>
              <a:rect l="l" t="t" r="r" b="b"/>
              <a:pathLst>
                <a:path w="2595395" h="2702534">
                  <a:moveTo>
                    <a:pt x="0" y="1351267"/>
                  </a:moveTo>
                  <a:cubicBezTo>
                    <a:pt x="0" y="605009"/>
                    <a:pt x="581024" y="0"/>
                    <a:pt x="1297698" y="0"/>
                  </a:cubicBezTo>
                  <a:lnTo>
                    <a:pt x="1297698" y="14041"/>
                  </a:lnTo>
                  <a:lnTo>
                    <a:pt x="1297698" y="0"/>
                  </a:lnTo>
                  <a:cubicBezTo>
                    <a:pt x="2014371" y="0"/>
                    <a:pt x="2595395" y="605009"/>
                    <a:pt x="2595395" y="1351267"/>
                  </a:cubicBezTo>
                  <a:lnTo>
                    <a:pt x="2581911" y="1351267"/>
                  </a:lnTo>
                  <a:lnTo>
                    <a:pt x="2595395" y="1351267"/>
                  </a:lnTo>
                  <a:cubicBezTo>
                    <a:pt x="2595395" y="2097525"/>
                    <a:pt x="2014371" y="2702534"/>
                    <a:pt x="1297698" y="2702534"/>
                  </a:cubicBezTo>
                  <a:lnTo>
                    <a:pt x="1297698" y="2688494"/>
                  </a:lnTo>
                  <a:lnTo>
                    <a:pt x="1297698" y="2702534"/>
                  </a:lnTo>
                  <a:cubicBezTo>
                    <a:pt x="581024" y="2702672"/>
                    <a:pt x="0" y="2097665"/>
                    <a:pt x="0" y="1351267"/>
                  </a:cubicBezTo>
                  <a:lnTo>
                    <a:pt x="13484" y="1351267"/>
                  </a:lnTo>
                  <a:lnTo>
                    <a:pt x="26968" y="1351267"/>
                  </a:lnTo>
                  <a:lnTo>
                    <a:pt x="13484" y="1351267"/>
                  </a:lnTo>
                  <a:lnTo>
                    <a:pt x="0" y="1351267"/>
                  </a:lnTo>
                  <a:moveTo>
                    <a:pt x="26968" y="1351267"/>
                  </a:moveTo>
                  <a:cubicBezTo>
                    <a:pt x="26968" y="1358989"/>
                    <a:pt x="20900" y="1365308"/>
                    <a:pt x="13484" y="1365308"/>
                  </a:cubicBezTo>
                  <a:cubicBezTo>
                    <a:pt x="6068" y="1365308"/>
                    <a:pt x="0" y="1358989"/>
                    <a:pt x="0" y="1351267"/>
                  </a:cubicBezTo>
                  <a:cubicBezTo>
                    <a:pt x="0" y="1343545"/>
                    <a:pt x="6068" y="1337227"/>
                    <a:pt x="13484" y="1337227"/>
                  </a:cubicBezTo>
                  <a:cubicBezTo>
                    <a:pt x="20900" y="1337227"/>
                    <a:pt x="26968" y="1343545"/>
                    <a:pt x="26968" y="1351267"/>
                  </a:cubicBezTo>
                  <a:cubicBezTo>
                    <a:pt x="26968" y="2082080"/>
                    <a:pt x="595857" y="2674453"/>
                    <a:pt x="1297698" y="2674453"/>
                  </a:cubicBezTo>
                  <a:cubicBezTo>
                    <a:pt x="1999538" y="2674453"/>
                    <a:pt x="2568427" y="2082080"/>
                    <a:pt x="2568427" y="1351267"/>
                  </a:cubicBezTo>
                  <a:cubicBezTo>
                    <a:pt x="2568427" y="620454"/>
                    <a:pt x="1999538" y="28081"/>
                    <a:pt x="1297698" y="28081"/>
                  </a:cubicBezTo>
                  <a:lnTo>
                    <a:pt x="1297698" y="14041"/>
                  </a:lnTo>
                  <a:lnTo>
                    <a:pt x="1297698" y="28081"/>
                  </a:lnTo>
                  <a:cubicBezTo>
                    <a:pt x="595857" y="28081"/>
                    <a:pt x="26968" y="620454"/>
                    <a:pt x="26968" y="1351267"/>
                  </a:cubicBezTo>
                  <a:close/>
                </a:path>
              </a:pathLst>
            </a:custGeom>
            <a:solidFill>
              <a:srgbClr val="595959"/>
            </a:solidFill>
          </p:spPr>
        </p:sp>
        <p:sp>
          <p:nvSpPr>
            <p:cNvPr id="16" name="TextBox 16"/>
            <p:cNvSpPr txBox="1"/>
            <p:nvPr/>
          </p:nvSpPr>
          <p:spPr>
            <a:xfrm>
              <a:off x="0" y="-38100"/>
              <a:ext cx="2595506" cy="2740749"/>
            </a:xfrm>
            <a:prstGeom prst="rect">
              <a:avLst/>
            </a:prstGeom>
          </p:spPr>
          <p:txBody>
            <a:bodyPr lIns="21318" tIns="21318" rIns="21318" bIns="21318" rtlCol="0" anchor="ctr"/>
            <a:lstStyle/>
            <a:p>
              <a:pPr algn="ctr">
                <a:lnSpc>
                  <a:spcPts val="2014"/>
                </a:lnSpc>
              </a:pPr>
              <a:r>
                <a:rPr lang="en-US" sz="1678">
                  <a:solidFill>
                    <a:srgbClr val="000000"/>
                  </a:solidFill>
                  <a:latin typeface="Times New Roman MT"/>
                  <a:ea typeface="Times New Roman MT"/>
                  <a:cs typeface="Times New Roman MT"/>
                  <a:sym typeface="Times New Roman MT"/>
                </a:rPr>
                <a:t>15</a:t>
              </a:r>
            </a:p>
          </p:txBody>
        </p:sp>
      </p:grpSp>
      <p:sp>
        <p:nvSpPr>
          <p:cNvPr id="17" name="TextBox 17"/>
          <p:cNvSpPr txBox="1"/>
          <p:nvPr/>
        </p:nvSpPr>
        <p:spPr>
          <a:xfrm>
            <a:off x="8918207" y="4882825"/>
            <a:ext cx="152400" cy="171450"/>
          </a:xfrm>
          <a:prstGeom prst="rect">
            <a:avLst/>
          </a:prstGeom>
        </p:spPr>
        <p:txBody>
          <a:bodyPr wrap="none" lIns="0" tIns="0" rIns="0" bIns="0" rtlCol="0" anchor="t">
            <a:spAutoFit/>
          </a:bodyPr>
          <a:lstStyle/>
          <a:p>
            <a:pPr algn="ctr">
              <a:lnSpc>
                <a:spcPts val="1540"/>
              </a:lnSpc>
              <a:spcBef>
                <a:spcPct val="0"/>
              </a:spcBef>
            </a:pPr>
            <a:r>
              <a:rPr lang="en-US" sz="1100">
                <a:solidFill>
                  <a:srgbClr val="000000"/>
                </a:solidFill>
                <a:latin typeface="Canva Sans"/>
                <a:ea typeface="Canva Sans"/>
                <a:cs typeface="Canva Sans"/>
                <a:sym typeface="Canva Sans"/>
              </a:rPr>
              <a:t>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62" y="-4762"/>
            <a:ext cx="9153525" cy="5153025"/>
            <a:chOff x="0" y="0"/>
            <a:chExt cx="24409400" cy="13741400"/>
          </a:xfrm>
        </p:grpSpPr>
        <p:sp>
          <p:nvSpPr>
            <p:cNvPr id="3" name="Freeform 3"/>
            <p:cNvSpPr/>
            <p:nvPr/>
          </p:nvSpPr>
          <p:spPr>
            <a:xfrm>
              <a:off x="12700" y="1270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EEEEE"/>
            </a:solidFill>
          </p:spPr>
        </p:sp>
        <p:sp>
          <p:nvSpPr>
            <p:cNvPr id="4" name="Freeform 4"/>
            <p:cNvSpPr/>
            <p:nvPr/>
          </p:nvSpPr>
          <p:spPr>
            <a:xfrm>
              <a:off x="0" y="0"/>
              <a:ext cx="24409400" cy="13741400"/>
            </a:xfrm>
            <a:custGeom>
              <a:avLst/>
              <a:gdLst/>
              <a:ahLst/>
              <a:cxnLst/>
              <a:rect l="l" t="t" r="r" b="b"/>
              <a:pathLst>
                <a:path w="24409400" h="13741400">
                  <a:moveTo>
                    <a:pt x="12700" y="0"/>
                  </a:moveTo>
                  <a:lnTo>
                    <a:pt x="24396700" y="0"/>
                  </a:lnTo>
                  <a:cubicBezTo>
                    <a:pt x="24403686" y="0"/>
                    <a:pt x="24409400" y="5715"/>
                    <a:pt x="24409400" y="12700"/>
                  </a:cubicBezTo>
                  <a:lnTo>
                    <a:pt x="24409400" y="13728700"/>
                  </a:lnTo>
                  <a:cubicBezTo>
                    <a:pt x="24409400" y="13735686"/>
                    <a:pt x="24403686" y="13741400"/>
                    <a:pt x="24396700" y="13741400"/>
                  </a:cubicBezTo>
                  <a:lnTo>
                    <a:pt x="12700" y="13741400"/>
                  </a:lnTo>
                  <a:cubicBezTo>
                    <a:pt x="5715" y="13741400"/>
                    <a:pt x="0" y="13735686"/>
                    <a:pt x="0" y="13728700"/>
                  </a:cubicBezTo>
                  <a:lnTo>
                    <a:pt x="0" y="12700"/>
                  </a:lnTo>
                  <a:cubicBezTo>
                    <a:pt x="0" y="5715"/>
                    <a:pt x="5715" y="0"/>
                    <a:pt x="12700" y="0"/>
                  </a:cubicBezTo>
                  <a:moveTo>
                    <a:pt x="12700" y="25400"/>
                  </a:moveTo>
                  <a:lnTo>
                    <a:pt x="12700" y="12700"/>
                  </a:lnTo>
                  <a:lnTo>
                    <a:pt x="25400" y="12700"/>
                  </a:lnTo>
                  <a:lnTo>
                    <a:pt x="25400" y="13728700"/>
                  </a:lnTo>
                  <a:lnTo>
                    <a:pt x="12700" y="13728700"/>
                  </a:lnTo>
                  <a:lnTo>
                    <a:pt x="12700" y="13716000"/>
                  </a:lnTo>
                  <a:lnTo>
                    <a:pt x="24396700" y="13716000"/>
                  </a:lnTo>
                  <a:lnTo>
                    <a:pt x="24396700" y="13728700"/>
                  </a:lnTo>
                  <a:lnTo>
                    <a:pt x="24384000" y="13728700"/>
                  </a:lnTo>
                  <a:lnTo>
                    <a:pt x="24384000" y="12700"/>
                  </a:lnTo>
                  <a:lnTo>
                    <a:pt x="24396700" y="12700"/>
                  </a:lnTo>
                  <a:lnTo>
                    <a:pt x="24396700" y="25400"/>
                  </a:lnTo>
                  <a:lnTo>
                    <a:pt x="12700" y="25400"/>
                  </a:lnTo>
                  <a:close/>
                </a:path>
              </a:pathLst>
            </a:custGeom>
            <a:solidFill>
              <a:srgbClr val="595959"/>
            </a:solidFill>
          </p:spPr>
        </p:sp>
      </p:grpSp>
      <p:grpSp>
        <p:nvGrpSpPr>
          <p:cNvPr id="5" name="Group 5"/>
          <p:cNvGrpSpPr/>
          <p:nvPr/>
        </p:nvGrpSpPr>
        <p:grpSpPr>
          <a:xfrm>
            <a:off x="311700" y="445025"/>
            <a:ext cx="8520600" cy="648970"/>
            <a:chOff x="0" y="0"/>
            <a:chExt cx="22721600" cy="1730587"/>
          </a:xfrm>
        </p:grpSpPr>
        <p:sp>
          <p:nvSpPr>
            <p:cNvPr id="6" name="Freeform 6"/>
            <p:cNvSpPr/>
            <p:nvPr/>
          </p:nvSpPr>
          <p:spPr>
            <a:xfrm>
              <a:off x="0" y="0"/>
              <a:ext cx="22721601" cy="1730587"/>
            </a:xfrm>
            <a:custGeom>
              <a:avLst/>
              <a:gdLst/>
              <a:ahLst/>
              <a:cxnLst/>
              <a:rect l="l" t="t" r="r" b="b"/>
              <a:pathLst>
                <a:path w="22721601" h="1730587">
                  <a:moveTo>
                    <a:pt x="0" y="0"/>
                  </a:moveTo>
                  <a:lnTo>
                    <a:pt x="22721601" y="0"/>
                  </a:lnTo>
                  <a:lnTo>
                    <a:pt x="22721601" y="1730587"/>
                  </a:lnTo>
                  <a:lnTo>
                    <a:pt x="0" y="1730587"/>
                  </a:lnTo>
                  <a:close/>
                </a:path>
              </a:pathLst>
            </a:custGeom>
          </p:spPr>
        </p:sp>
        <p:sp>
          <p:nvSpPr>
            <p:cNvPr id="7" name="TextBox 7"/>
            <p:cNvSpPr txBox="1"/>
            <p:nvPr/>
          </p:nvSpPr>
          <p:spPr>
            <a:xfrm>
              <a:off x="0" y="-76200"/>
              <a:ext cx="22721600" cy="1806787"/>
            </a:xfrm>
            <a:prstGeom prst="rect">
              <a:avLst/>
            </a:prstGeom>
          </p:spPr>
          <p:txBody>
            <a:bodyPr lIns="0" tIns="0" rIns="0" bIns="0" rtlCol="0" anchor="t"/>
            <a:lstStyle/>
            <a:p>
              <a:pPr algn="ctr">
                <a:lnSpc>
                  <a:spcPts val="4200"/>
                </a:lnSpc>
              </a:pPr>
              <a:r>
                <a:rPr lang="en-US" sz="3500">
                  <a:solidFill>
                    <a:srgbClr val="000000"/>
                  </a:solidFill>
                  <a:latin typeface="Arial MT Pro"/>
                  <a:ea typeface="Arial MT Pro"/>
                  <a:cs typeface="Arial MT Pro"/>
                  <a:sym typeface="Arial MT Pro"/>
                </a:rPr>
                <a:t>Need of the Proposed System</a:t>
              </a:r>
            </a:p>
          </p:txBody>
        </p:sp>
      </p:grpSp>
      <p:grpSp>
        <p:nvGrpSpPr>
          <p:cNvPr id="8" name="Group 8"/>
          <p:cNvGrpSpPr/>
          <p:nvPr/>
        </p:nvGrpSpPr>
        <p:grpSpPr>
          <a:xfrm>
            <a:off x="592946" y="1329580"/>
            <a:ext cx="7958108" cy="3416400"/>
            <a:chOff x="0" y="0"/>
            <a:chExt cx="21221621" cy="9110400"/>
          </a:xfrm>
        </p:grpSpPr>
        <p:sp>
          <p:nvSpPr>
            <p:cNvPr id="9" name="Freeform 9"/>
            <p:cNvSpPr/>
            <p:nvPr/>
          </p:nvSpPr>
          <p:spPr>
            <a:xfrm>
              <a:off x="0" y="0"/>
              <a:ext cx="21221622" cy="9110400"/>
            </a:xfrm>
            <a:custGeom>
              <a:avLst/>
              <a:gdLst/>
              <a:ahLst/>
              <a:cxnLst/>
              <a:rect l="l" t="t" r="r" b="b"/>
              <a:pathLst>
                <a:path w="21221622" h="9110400">
                  <a:moveTo>
                    <a:pt x="0" y="0"/>
                  </a:moveTo>
                  <a:lnTo>
                    <a:pt x="21221622" y="0"/>
                  </a:lnTo>
                  <a:lnTo>
                    <a:pt x="21221622" y="9110400"/>
                  </a:lnTo>
                  <a:lnTo>
                    <a:pt x="0" y="9110400"/>
                  </a:lnTo>
                  <a:close/>
                </a:path>
              </a:pathLst>
            </a:custGeom>
          </p:spPr>
        </p:sp>
        <p:sp>
          <p:nvSpPr>
            <p:cNvPr id="10" name="TextBox 10"/>
            <p:cNvSpPr txBox="1"/>
            <p:nvPr/>
          </p:nvSpPr>
          <p:spPr>
            <a:xfrm>
              <a:off x="0" y="-76200"/>
              <a:ext cx="21221621" cy="9186600"/>
            </a:xfrm>
            <a:prstGeom prst="rect">
              <a:avLst/>
            </a:prstGeom>
          </p:spPr>
          <p:txBody>
            <a:bodyPr lIns="0" tIns="0" rIns="0" bIns="0" rtlCol="0" anchor="t"/>
            <a:lstStyle/>
            <a:p>
              <a:pPr marL="431799" lvl="1" indent="-215899" algn="just">
                <a:lnSpc>
                  <a:spcPts val="2759"/>
                </a:lnSpc>
                <a:buFont typeface="Arial"/>
                <a:buChar char="•"/>
              </a:pPr>
              <a:r>
                <a:rPr lang="en-US" sz="1999">
                  <a:solidFill>
                    <a:srgbClr val="595959"/>
                  </a:solidFill>
                  <a:latin typeface="Arial MT Pro"/>
                  <a:ea typeface="Arial MT Pro"/>
                  <a:cs typeface="Arial MT Pro"/>
                  <a:sym typeface="Arial MT Pro"/>
                </a:rPr>
                <a:t>Generative AI models risk reproducing or mimicking copyrighted content from their training data, leading to significant legal and ethical concerns.</a:t>
              </a:r>
            </a:p>
            <a:p>
              <a:pPr marL="431799" lvl="1" indent="-215899" algn="just">
                <a:lnSpc>
                  <a:spcPts val="2759"/>
                </a:lnSpc>
                <a:buFont typeface="Arial"/>
                <a:buChar char="•"/>
              </a:pPr>
              <a:r>
                <a:rPr lang="en-US" sz="1999">
                  <a:solidFill>
                    <a:srgbClr val="595959"/>
                  </a:solidFill>
                  <a:latin typeface="Arial MT Pro"/>
                  <a:ea typeface="Arial MT Pro"/>
                  <a:cs typeface="Arial MT Pro"/>
                  <a:sym typeface="Arial MT Pro"/>
                </a:rPr>
                <a:t>There's a need to improve current copyright detection methods to identify subtle AI-driven infringement and stylistic imitation</a:t>
              </a:r>
            </a:p>
            <a:p>
              <a:pPr marL="431799" lvl="1" indent="-215899" algn="just">
                <a:lnSpc>
                  <a:spcPts val="2759"/>
                </a:lnSpc>
                <a:buFont typeface="Arial"/>
                <a:buChar char="•"/>
              </a:pPr>
              <a:r>
                <a:rPr lang="en-US" sz="1999">
                  <a:solidFill>
                    <a:srgbClr val="595959"/>
                  </a:solidFill>
                  <a:latin typeface="Arial MT Pro"/>
                  <a:ea typeface="Arial MT Pro"/>
                  <a:cs typeface="Arial MT Pro"/>
                  <a:sym typeface="Arial MT Pro"/>
                </a:rPr>
                <a:t>A sophisticated system is needed to combine literal copy detection and stylometric analysis, protecting intellectual property, promoting ethical AI, and fostering trust in AI-generated content.</a:t>
              </a:r>
            </a:p>
            <a:p>
              <a:pPr algn="just">
                <a:lnSpc>
                  <a:spcPts val="2759"/>
                </a:lnSpc>
              </a:pPr>
              <a:endParaRPr lang="en-US" sz="1999">
                <a:solidFill>
                  <a:srgbClr val="595959"/>
                </a:solidFill>
                <a:latin typeface="Arial MT Pro"/>
                <a:ea typeface="Arial MT Pro"/>
                <a:cs typeface="Arial MT Pro"/>
                <a:sym typeface="Arial MT Pro"/>
              </a:endParaRPr>
            </a:p>
          </p:txBody>
        </p:sp>
      </p:grpSp>
      <p:sp>
        <p:nvSpPr>
          <p:cNvPr id="11" name="Freeform 11"/>
          <p:cNvSpPr/>
          <p:nvPr/>
        </p:nvSpPr>
        <p:spPr>
          <a:xfrm>
            <a:off x="-4762" y="-4762"/>
            <a:ext cx="971943" cy="1013493"/>
          </a:xfrm>
          <a:custGeom>
            <a:avLst/>
            <a:gdLst/>
            <a:ahLst/>
            <a:cxnLst/>
            <a:rect l="l" t="t" r="r" b="b"/>
            <a:pathLst>
              <a:path w="971943" h="1013493">
                <a:moveTo>
                  <a:pt x="0" y="0"/>
                </a:moveTo>
                <a:lnTo>
                  <a:pt x="971942" y="0"/>
                </a:lnTo>
                <a:lnTo>
                  <a:pt x="971942" y="1013493"/>
                </a:lnTo>
                <a:lnTo>
                  <a:pt x="0" y="1013493"/>
                </a:lnTo>
                <a:lnTo>
                  <a:pt x="0" y="0"/>
                </a:lnTo>
                <a:close/>
              </a:path>
            </a:pathLst>
          </a:custGeom>
          <a:blipFill>
            <a:blip r:embed="rId2"/>
            <a:stretch>
              <a:fillRect l="-2670" t="-1023" r="-2670"/>
            </a:stretch>
          </a:blipFill>
        </p:spPr>
      </p:sp>
      <p:sp>
        <p:nvSpPr>
          <p:cNvPr id="12" name="TextBox 12"/>
          <p:cNvSpPr txBox="1"/>
          <p:nvPr/>
        </p:nvSpPr>
        <p:spPr>
          <a:xfrm>
            <a:off x="2667332" y="102114"/>
            <a:ext cx="4571667" cy="230832"/>
          </a:xfrm>
          <a:prstGeom prst="rect">
            <a:avLst/>
          </a:prstGeom>
        </p:spPr>
        <p:txBody>
          <a:bodyPr wrap="square" lIns="0" tIns="0" rIns="0" bIns="0" rtlCol="0" anchor="t">
            <a:spAutoFit/>
          </a:bodyPr>
          <a:lstStyle/>
          <a:p>
            <a:pPr algn="ctr">
              <a:lnSpc>
                <a:spcPts val="1800"/>
              </a:lnSpc>
              <a:spcBef>
                <a:spcPct val="0"/>
              </a:spcBef>
            </a:pPr>
            <a:r>
              <a:rPr lang="en-US" sz="1500" dirty="0">
                <a:solidFill>
                  <a:srgbClr val="000000"/>
                </a:solidFill>
                <a:latin typeface="Times New Roman MT"/>
                <a:ea typeface="Times New Roman MT"/>
                <a:cs typeface="Times New Roman MT"/>
                <a:sym typeface="Times New Roman MT"/>
              </a:rPr>
              <a:t>B.E.(I.T.) / Sem VIII / MAJOR PROJECT II-2025-26</a:t>
            </a:r>
          </a:p>
        </p:txBody>
      </p:sp>
      <p:grpSp>
        <p:nvGrpSpPr>
          <p:cNvPr id="13" name="Group 13"/>
          <p:cNvGrpSpPr/>
          <p:nvPr/>
        </p:nvGrpSpPr>
        <p:grpSpPr>
          <a:xfrm>
            <a:off x="8327115" y="25155"/>
            <a:ext cx="816885" cy="850606"/>
            <a:chOff x="0" y="0"/>
            <a:chExt cx="2595506" cy="2702649"/>
          </a:xfrm>
        </p:grpSpPr>
        <p:sp>
          <p:nvSpPr>
            <p:cNvPr id="14" name="Freeform 14"/>
            <p:cNvSpPr/>
            <p:nvPr/>
          </p:nvSpPr>
          <p:spPr>
            <a:xfrm>
              <a:off x="13484" y="14041"/>
              <a:ext cx="2568427" cy="2674453"/>
            </a:xfrm>
            <a:custGeom>
              <a:avLst/>
              <a:gdLst/>
              <a:ahLst/>
              <a:cxnLst/>
              <a:rect l="l" t="t" r="r" b="b"/>
              <a:pathLst>
                <a:path w="2568427" h="2674453">
                  <a:moveTo>
                    <a:pt x="0" y="1337226"/>
                  </a:moveTo>
                  <a:cubicBezTo>
                    <a:pt x="0" y="598691"/>
                    <a:pt x="574957" y="0"/>
                    <a:pt x="1284214" y="0"/>
                  </a:cubicBezTo>
                  <a:cubicBezTo>
                    <a:pt x="1993471" y="0"/>
                    <a:pt x="2568427" y="598691"/>
                    <a:pt x="2568427" y="1337226"/>
                  </a:cubicBezTo>
                  <a:cubicBezTo>
                    <a:pt x="2568427" y="2075761"/>
                    <a:pt x="1993471" y="2674453"/>
                    <a:pt x="1284214" y="2674453"/>
                  </a:cubicBezTo>
                  <a:cubicBezTo>
                    <a:pt x="574957" y="2674453"/>
                    <a:pt x="0" y="2075902"/>
                    <a:pt x="0" y="1337226"/>
                  </a:cubicBezTo>
                  <a:close/>
                </a:path>
              </a:pathLst>
            </a:custGeom>
            <a:solidFill>
              <a:srgbClr val="EEEEEE"/>
            </a:solidFill>
          </p:spPr>
        </p:sp>
        <p:sp>
          <p:nvSpPr>
            <p:cNvPr id="15" name="Freeform 15"/>
            <p:cNvSpPr/>
            <p:nvPr/>
          </p:nvSpPr>
          <p:spPr>
            <a:xfrm>
              <a:off x="0" y="0"/>
              <a:ext cx="2595395" cy="2702534"/>
            </a:xfrm>
            <a:custGeom>
              <a:avLst/>
              <a:gdLst/>
              <a:ahLst/>
              <a:cxnLst/>
              <a:rect l="l" t="t" r="r" b="b"/>
              <a:pathLst>
                <a:path w="2595395" h="2702534">
                  <a:moveTo>
                    <a:pt x="0" y="1351267"/>
                  </a:moveTo>
                  <a:cubicBezTo>
                    <a:pt x="0" y="605009"/>
                    <a:pt x="581024" y="0"/>
                    <a:pt x="1297698" y="0"/>
                  </a:cubicBezTo>
                  <a:lnTo>
                    <a:pt x="1297698" y="14041"/>
                  </a:lnTo>
                  <a:lnTo>
                    <a:pt x="1297698" y="0"/>
                  </a:lnTo>
                  <a:cubicBezTo>
                    <a:pt x="2014371" y="0"/>
                    <a:pt x="2595395" y="605009"/>
                    <a:pt x="2595395" y="1351267"/>
                  </a:cubicBezTo>
                  <a:lnTo>
                    <a:pt x="2581911" y="1351267"/>
                  </a:lnTo>
                  <a:lnTo>
                    <a:pt x="2595395" y="1351267"/>
                  </a:lnTo>
                  <a:cubicBezTo>
                    <a:pt x="2595395" y="2097525"/>
                    <a:pt x="2014371" y="2702534"/>
                    <a:pt x="1297698" y="2702534"/>
                  </a:cubicBezTo>
                  <a:lnTo>
                    <a:pt x="1297698" y="2688494"/>
                  </a:lnTo>
                  <a:lnTo>
                    <a:pt x="1297698" y="2702534"/>
                  </a:lnTo>
                  <a:cubicBezTo>
                    <a:pt x="581024" y="2702672"/>
                    <a:pt x="0" y="2097665"/>
                    <a:pt x="0" y="1351267"/>
                  </a:cubicBezTo>
                  <a:lnTo>
                    <a:pt x="13484" y="1351267"/>
                  </a:lnTo>
                  <a:lnTo>
                    <a:pt x="26968" y="1351267"/>
                  </a:lnTo>
                  <a:lnTo>
                    <a:pt x="13484" y="1351267"/>
                  </a:lnTo>
                  <a:lnTo>
                    <a:pt x="0" y="1351267"/>
                  </a:lnTo>
                  <a:moveTo>
                    <a:pt x="26968" y="1351267"/>
                  </a:moveTo>
                  <a:cubicBezTo>
                    <a:pt x="26968" y="1358989"/>
                    <a:pt x="20900" y="1365308"/>
                    <a:pt x="13484" y="1365308"/>
                  </a:cubicBezTo>
                  <a:cubicBezTo>
                    <a:pt x="6068" y="1365308"/>
                    <a:pt x="0" y="1358989"/>
                    <a:pt x="0" y="1351267"/>
                  </a:cubicBezTo>
                  <a:cubicBezTo>
                    <a:pt x="0" y="1343545"/>
                    <a:pt x="6068" y="1337227"/>
                    <a:pt x="13484" y="1337227"/>
                  </a:cubicBezTo>
                  <a:cubicBezTo>
                    <a:pt x="20900" y="1337227"/>
                    <a:pt x="26968" y="1343545"/>
                    <a:pt x="26968" y="1351267"/>
                  </a:cubicBezTo>
                  <a:cubicBezTo>
                    <a:pt x="26968" y="2082080"/>
                    <a:pt x="595857" y="2674453"/>
                    <a:pt x="1297698" y="2674453"/>
                  </a:cubicBezTo>
                  <a:cubicBezTo>
                    <a:pt x="1999538" y="2674453"/>
                    <a:pt x="2568427" y="2082080"/>
                    <a:pt x="2568427" y="1351267"/>
                  </a:cubicBezTo>
                  <a:cubicBezTo>
                    <a:pt x="2568427" y="620454"/>
                    <a:pt x="1999538" y="28081"/>
                    <a:pt x="1297698" y="28081"/>
                  </a:cubicBezTo>
                  <a:lnTo>
                    <a:pt x="1297698" y="14041"/>
                  </a:lnTo>
                  <a:lnTo>
                    <a:pt x="1297698" y="28081"/>
                  </a:lnTo>
                  <a:cubicBezTo>
                    <a:pt x="595857" y="28081"/>
                    <a:pt x="26968" y="620454"/>
                    <a:pt x="26968" y="1351267"/>
                  </a:cubicBezTo>
                  <a:close/>
                </a:path>
              </a:pathLst>
            </a:custGeom>
            <a:solidFill>
              <a:srgbClr val="595959"/>
            </a:solidFill>
          </p:spPr>
        </p:sp>
        <p:sp>
          <p:nvSpPr>
            <p:cNvPr id="16" name="TextBox 16"/>
            <p:cNvSpPr txBox="1"/>
            <p:nvPr/>
          </p:nvSpPr>
          <p:spPr>
            <a:xfrm>
              <a:off x="0" y="-38100"/>
              <a:ext cx="2595506" cy="2740749"/>
            </a:xfrm>
            <a:prstGeom prst="rect">
              <a:avLst/>
            </a:prstGeom>
          </p:spPr>
          <p:txBody>
            <a:bodyPr lIns="21318" tIns="21318" rIns="21318" bIns="21318" rtlCol="0" anchor="ctr"/>
            <a:lstStyle/>
            <a:p>
              <a:pPr algn="ctr">
                <a:lnSpc>
                  <a:spcPts val="2014"/>
                </a:lnSpc>
              </a:pPr>
              <a:r>
                <a:rPr lang="en-US" sz="1678">
                  <a:solidFill>
                    <a:srgbClr val="000000"/>
                  </a:solidFill>
                  <a:latin typeface="Times New Roman MT"/>
                  <a:ea typeface="Times New Roman MT"/>
                  <a:cs typeface="Times New Roman MT"/>
                  <a:sym typeface="Times New Roman MT"/>
                </a:rPr>
                <a:t>15</a:t>
              </a:r>
            </a:p>
          </p:txBody>
        </p:sp>
      </p:grpSp>
      <p:sp>
        <p:nvSpPr>
          <p:cNvPr id="17" name="TextBox 17"/>
          <p:cNvSpPr txBox="1"/>
          <p:nvPr/>
        </p:nvSpPr>
        <p:spPr>
          <a:xfrm>
            <a:off x="8918207" y="4882825"/>
            <a:ext cx="152400" cy="171450"/>
          </a:xfrm>
          <a:prstGeom prst="rect">
            <a:avLst/>
          </a:prstGeom>
        </p:spPr>
        <p:txBody>
          <a:bodyPr wrap="none" lIns="0" tIns="0" rIns="0" bIns="0" rtlCol="0" anchor="t">
            <a:spAutoFit/>
          </a:bodyPr>
          <a:lstStyle/>
          <a:p>
            <a:pPr algn="ctr">
              <a:lnSpc>
                <a:spcPts val="1540"/>
              </a:lnSpc>
              <a:spcBef>
                <a:spcPct val="0"/>
              </a:spcBef>
            </a:pPr>
            <a:r>
              <a:rPr lang="en-US" sz="1100">
                <a:solidFill>
                  <a:srgbClr val="000000"/>
                </a:solidFill>
                <a:latin typeface="Canva Sans"/>
                <a:ea typeface="Canva Sans"/>
                <a:cs typeface="Canva Sans"/>
                <a:sym typeface="Canva Sans"/>
              </a:rPr>
              <a:t>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62" y="-4762"/>
            <a:ext cx="9153525" cy="5153025"/>
            <a:chOff x="0" y="0"/>
            <a:chExt cx="24409400" cy="13741400"/>
          </a:xfrm>
        </p:grpSpPr>
        <p:sp>
          <p:nvSpPr>
            <p:cNvPr id="3" name="Freeform 3"/>
            <p:cNvSpPr/>
            <p:nvPr/>
          </p:nvSpPr>
          <p:spPr>
            <a:xfrm>
              <a:off x="12700" y="1270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EEEEE"/>
            </a:solidFill>
          </p:spPr>
        </p:sp>
        <p:sp>
          <p:nvSpPr>
            <p:cNvPr id="4" name="Freeform 4"/>
            <p:cNvSpPr/>
            <p:nvPr/>
          </p:nvSpPr>
          <p:spPr>
            <a:xfrm>
              <a:off x="0" y="0"/>
              <a:ext cx="24409400" cy="13741400"/>
            </a:xfrm>
            <a:custGeom>
              <a:avLst/>
              <a:gdLst/>
              <a:ahLst/>
              <a:cxnLst/>
              <a:rect l="l" t="t" r="r" b="b"/>
              <a:pathLst>
                <a:path w="24409400" h="13741400">
                  <a:moveTo>
                    <a:pt x="12700" y="0"/>
                  </a:moveTo>
                  <a:lnTo>
                    <a:pt x="24396700" y="0"/>
                  </a:lnTo>
                  <a:cubicBezTo>
                    <a:pt x="24403686" y="0"/>
                    <a:pt x="24409400" y="5715"/>
                    <a:pt x="24409400" y="12700"/>
                  </a:cubicBezTo>
                  <a:lnTo>
                    <a:pt x="24409400" y="13728700"/>
                  </a:lnTo>
                  <a:cubicBezTo>
                    <a:pt x="24409400" y="13735686"/>
                    <a:pt x="24403686" y="13741400"/>
                    <a:pt x="24396700" y="13741400"/>
                  </a:cubicBezTo>
                  <a:lnTo>
                    <a:pt x="12700" y="13741400"/>
                  </a:lnTo>
                  <a:cubicBezTo>
                    <a:pt x="5715" y="13741400"/>
                    <a:pt x="0" y="13735686"/>
                    <a:pt x="0" y="13728700"/>
                  </a:cubicBezTo>
                  <a:lnTo>
                    <a:pt x="0" y="12700"/>
                  </a:lnTo>
                  <a:cubicBezTo>
                    <a:pt x="0" y="5715"/>
                    <a:pt x="5715" y="0"/>
                    <a:pt x="12700" y="0"/>
                  </a:cubicBezTo>
                  <a:moveTo>
                    <a:pt x="12700" y="25400"/>
                  </a:moveTo>
                  <a:lnTo>
                    <a:pt x="12700" y="12700"/>
                  </a:lnTo>
                  <a:lnTo>
                    <a:pt x="25400" y="12700"/>
                  </a:lnTo>
                  <a:lnTo>
                    <a:pt x="25400" y="13728700"/>
                  </a:lnTo>
                  <a:lnTo>
                    <a:pt x="12700" y="13728700"/>
                  </a:lnTo>
                  <a:lnTo>
                    <a:pt x="12700" y="13716000"/>
                  </a:lnTo>
                  <a:lnTo>
                    <a:pt x="24396700" y="13716000"/>
                  </a:lnTo>
                  <a:lnTo>
                    <a:pt x="24396700" y="13728700"/>
                  </a:lnTo>
                  <a:lnTo>
                    <a:pt x="24384000" y="13728700"/>
                  </a:lnTo>
                  <a:lnTo>
                    <a:pt x="24384000" y="12700"/>
                  </a:lnTo>
                  <a:lnTo>
                    <a:pt x="24396700" y="12700"/>
                  </a:lnTo>
                  <a:lnTo>
                    <a:pt x="24396700" y="25400"/>
                  </a:lnTo>
                  <a:lnTo>
                    <a:pt x="12700" y="25400"/>
                  </a:lnTo>
                  <a:close/>
                </a:path>
              </a:pathLst>
            </a:custGeom>
            <a:solidFill>
              <a:srgbClr val="595959"/>
            </a:solidFill>
          </p:spPr>
        </p:sp>
      </p:grpSp>
      <p:grpSp>
        <p:nvGrpSpPr>
          <p:cNvPr id="5" name="Group 5"/>
          <p:cNvGrpSpPr/>
          <p:nvPr/>
        </p:nvGrpSpPr>
        <p:grpSpPr>
          <a:xfrm>
            <a:off x="311700" y="445025"/>
            <a:ext cx="8520600" cy="648970"/>
            <a:chOff x="0" y="0"/>
            <a:chExt cx="22721600" cy="1730587"/>
          </a:xfrm>
        </p:grpSpPr>
        <p:sp>
          <p:nvSpPr>
            <p:cNvPr id="6" name="Freeform 6"/>
            <p:cNvSpPr/>
            <p:nvPr/>
          </p:nvSpPr>
          <p:spPr>
            <a:xfrm>
              <a:off x="0" y="0"/>
              <a:ext cx="22721601" cy="1730587"/>
            </a:xfrm>
            <a:custGeom>
              <a:avLst/>
              <a:gdLst/>
              <a:ahLst/>
              <a:cxnLst/>
              <a:rect l="l" t="t" r="r" b="b"/>
              <a:pathLst>
                <a:path w="22721601" h="1730587">
                  <a:moveTo>
                    <a:pt x="0" y="0"/>
                  </a:moveTo>
                  <a:lnTo>
                    <a:pt x="22721601" y="0"/>
                  </a:lnTo>
                  <a:lnTo>
                    <a:pt x="22721601" y="1730587"/>
                  </a:lnTo>
                  <a:lnTo>
                    <a:pt x="0" y="1730587"/>
                  </a:lnTo>
                  <a:close/>
                </a:path>
              </a:pathLst>
            </a:custGeom>
          </p:spPr>
        </p:sp>
        <p:sp>
          <p:nvSpPr>
            <p:cNvPr id="7" name="TextBox 7"/>
            <p:cNvSpPr txBox="1"/>
            <p:nvPr/>
          </p:nvSpPr>
          <p:spPr>
            <a:xfrm>
              <a:off x="0" y="-76200"/>
              <a:ext cx="22721600" cy="1806787"/>
            </a:xfrm>
            <a:prstGeom prst="rect">
              <a:avLst/>
            </a:prstGeom>
          </p:spPr>
          <p:txBody>
            <a:bodyPr lIns="0" tIns="0" rIns="0" bIns="0" rtlCol="0" anchor="t"/>
            <a:lstStyle/>
            <a:p>
              <a:pPr algn="ctr">
                <a:lnSpc>
                  <a:spcPts val="4200"/>
                </a:lnSpc>
              </a:pPr>
              <a:r>
                <a:rPr lang="en-US" sz="3500">
                  <a:solidFill>
                    <a:srgbClr val="000000"/>
                  </a:solidFill>
                  <a:latin typeface="Arial MT Pro"/>
                  <a:ea typeface="Arial MT Pro"/>
                  <a:cs typeface="Arial MT Pro"/>
                  <a:sym typeface="Arial MT Pro"/>
                </a:rPr>
                <a:t>Scope of the Problem</a:t>
              </a:r>
            </a:p>
          </p:txBody>
        </p:sp>
      </p:grpSp>
      <p:grpSp>
        <p:nvGrpSpPr>
          <p:cNvPr id="8" name="Group 8"/>
          <p:cNvGrpSpPr/>
          <p:nvPr/>
        </p:nvGrpSpPr>
        <p:grpSpPr>
          <a:xfrm>
            <a:off x="623400" y="1435370"/>
            <a:ext cx="8006250" cy="4265980"/>
            <a:chOff x="0" y="0"/>
            <a:chExt cx="21350000" cy="11375948"/>
          </a:xfrm>
        </p:grpSpPr>
        <p:sp>
          <p:nvSpPr>
            <p:cNvPr id="9" name="Freeform 9"/>
            <p:cNvSpPr/>
            <p:nvPr/>
          </p:nvSpPr>
          <p:spPr>
            <a:xfrm>
              <a:off x="0" y="0"/>
              <a:ext cx="21350001" cy="11375947"/>
            </a:xfrm>
            <a:custGeom>
              <a:avLst/>
              <a:gdLst/>
              <a:ahLst/>
              <a:cxnLst/>
              <a:rect l="l" t="t" r="r" b="b"/>
              <a:pathLst>
                <a:path w="21350001" h="11375947">
                  <a:moveTo>
                    <a:pt x="0" y="0"/>
                  </a:moveTo>
                  <a:lnTo>
                    <a:pt x="21350001" y="0"/>
                  </a:lnTo>
                  <a:lnTo>
                    <a:pt x="21350001" y="11375947"/>
                  </a:lnTo>
                  <a:lnTo>
                    <a:pt x="0" y="11375947"/>
                  </a:lnTo>
                  <a:close/>
                </a:path>
              </a:pathLst>
            </a:custGeom>
          </p:spPr>
        </p:sp>
        <p:sp>
          <p:nvSpPr>
            <p:cNvPr id="10" name="TextBox 10"/>
            <p:cNvSpPr txBox="1"/>
            <p:nvPr/>
          </p:nvSpPr>
          <p:spPr>
            <a:xfrm>
              <a:off x="0" y="-66675"/>
              <a:ext cx="21350000" cy="11442623"/>
            </a:xfrm>
            <a:prstGeom prst="rect">
              <a:avLst/>
            </a:prstGeom>
          </p:spPr>
          <p:txBody>
            <a:bodyPr lIns="0" tIns="0" rIns="0" bIns="0" rtlCol="0" anchor="t"/>
            <a:lstStyle/>
            <a:p>
              <a:pPr marL="388620" lvl="1" indent="-194310" algn="just">
                <a:lnSpc>
                  <a:spcPts val="2483"/>
                </a:lnSpc>
                <a:buFont typeface="Arial"/>
                <a:buChar char="•"/>
              </a:pPr>
              <a:r>
                <a:rPr lang="en-US" sz="1800">
                  <a:solidFill>
                    <a:srgbClr val="595959"/>
                  </a:solidFill>
                  <a:latin typeface="Arial MT Pro"/>
                  <a:ea typeface="Arial MT Pro"/>
                  <a:cs typeface="Arial MT Pro"/>
                  <a:sym typeface="Arial MT Pro"/>
                </a:rPr>
                <a:t>The project scope is to create and implement a specialized system that analyzes AI-generated text to find evidence of potential copyright infringement. </a:t>
              </a:r>
            </a:p>
            <a:p>
              <a:pPr marL="388620" lvl="1" indent="-194310" algn="just">
                <a:lnSpc>
                  <a:spcPts val="2483"/>
                </a:lnSpc>
                <a:buFont typeface="Arial"/>
                <a:buChar char="•"/>
              </a:pPr>
              <a:r>
                <a:rPr lang="en-US" sz="1800">
                  <a:solidFill>
                    <a:srgbClr val="595959"/>
                  </a:solidFill>
                  <a:latin typeface="Arial MT Pro"/>
                  <a:ea typeface="Arial MT Pro"/>
                  <a:cs typeface="Arial MT Pro"/>
                  <a:sym typeface="Arial MT Pro"/>
                </a:rPr>
                <a:t>The analysis is strictly focused on comparing provided AI outputs against a specific set of copyrighted reference texts (literature content). </a:t>
              </a:r>
            </a:p>
            <a:p>
              <a:pPr marL="388620" lvl="1" indent="-194310" algn="just">
                <a:lnSpc>
                  <a:spcPts val="2483"/>
                </a:lnSpc>
                <a:buFont typeface="Arial"/>
                <a:buChar char="•"/>
              </a:pPr>
              <a:r>
                <a:rPr lang="en-US" sz="1800">
                  <a:solidFill>
                    <a:srgbClr val="595959"/>
                  </a:solidFill>
                  <a:latin typeface="Arial MT Pro"/>
                  <a:ea typeface="Arial MT Pro"/>
                  <a:cs typeface="Arial MT Pro"/>
                  <a:sym typeface="Arial MT Pro"/>
                </a:rPr>
                <a:t>The scope is to combine two distinct analytical methods: copy detection (finding literal text matches) and stylometric analysis (identifying imitation of writing style). </a:t>
              </a:r>
            </a:p>
          </p:txBody>
        </p:sp>
      </p:grpSp>
      <p:sp>
        <p:nvSpPr>
          <p:cNvPr id="11" name="Freeform 11"/>
          <p:cNvSpPr/>
          <p:nvPr/>
        </p:nvSpPr>
        <p:spPr>
          <a:xfrm>
            <a:off x="28379" y="-4762"/>
            <a:ext cx="971943" cy="1013493"/>
          </a:xfrm>
          <a:custGeom>
            <a:avLst/>
            <a:gdLst/>
            <a:ahLst/>
            <a:cxnLst/>
            <a:rect l="l" t="t" r="r" b="b"/>
            <a:pathLst>
              <a:path w="971943" h="1013493">
                <a:moveTo>
                  <a:pt x="0" y="0"/>
                </a:moveTo>
                <a:lnTo>
                  <a:pt x="971942" y="0"/>
                </a:lnTo>
                <a:lnTo>
                  <a:pt x="971942" y="1013493"/>
                </a:lnTo>
                <a:lnTo>
                  <a:pt x="0" y="1013493"/>
                </a:lnTo>
                <a:lnTo>
                  <a:pt x="0" y="0"/>
                </a:lnTo>
                <a:close/>
              </a:path>
            </a:pathLst>
          </a:custGeom>
          <a:blipFill>
            <a:blip r:embed="rId2"/>
            <a:stretch>
              <a:fillRect l="-2670" t="-1023" r="-2670"/>
            </a:stretch>
          </a:blipFill>
        </p:spPr>
      </p:sp>
      <p:sp>
        <p:nvSpPr>
          <p:cNvPr id="12" name="TextBox 12"/>
          <p:cNvSpPr txBox="1"/>
          <p:nvPr/>
        </p:nvSpPr>
        <p:spPr>
          <a:xfrm>
            <a:off x="2535818" y="102115"/>
            <a:ext cx="4474582" cy="230832"/>
          </a:xfrm>
          <a:prstGeom prst="rect">
            <a:avLst/>
          </a:prstGeom>
        </p:spPr>
        <p:txBody>
          <a:bodyPr wrap="square" lIns="0" tIns="0" rIns="0" bIns="0" rtlCol="0" anchor="t">
            <a:spAutoFit/>
          </a:bodyPr>
          <a:lstStyle/>
          <a:p>
            <a:pPr algn="ctr">
              <a:lnSpc>
                <a:spcPts val="1800"/>
              </a:lnSpc>
              <a:spcBef>
                <a:spcPct val="0"/>
              </a:spcBef>
            </a:pPr>
            <a:r>
              <a:rPr lang="en-US" sz="1500" dirty="0">
                <a:solidFill>
                  <a:srgbClr val="000000"/>
                </a:solidFill>
                <a:latin typeface="Times New Roman MT"/>
                <a:ea typeface="Times New Roman MT"/>
                <a:cs typeface="Times New Roman MT"/>
                <a:sym typeface="Times New Roman MT"/>
              </a:rPr>
              <a:t>B.E.(I.T.) / Sem VIII / MAJOR PROJECT II-2025-26</a:t>
            </a:r>
          </a:p>
        </p:txBody>
      </p:sp>
      <p:grpSp>
        <p:nvGrpSpPr>
          <p:cNvPr id="13" name="Group 13"/>
          <p:cNvGrpSpPr/>
          <p:nvPr/>
        </p:nvGrpSpPr>
        <p:grpSpPr>
          <a:xfrm>
            <a:off x="8327115" y="25155"/>
            <a:ext cx="816885" cy="850606"/>
            <a:chOff x="0" y="0"/>
            <a:chExt cx="2595506" cy="2702649"/>
          </a:xfrm>
        </p:grpSpPr>
        <p:sp>
          <p:nvSpPr>
            <p:cNvPr id="14" name="Freeform 14"/>
            <p:cNvSpPr/>
            <p:nvPr/>
          </p:nvSpPr>
          <p:spPr>
            <a:xfrm>
              <a:off x="13484" y="14041"/>
              <a:ext cx="2568427" cy="2674453"/>
            </a:xfrm>
            <a:custGeom>
              <a:avLst/>
              <a:gdLst/>
              <a:ahLst/>
              <a:cxnLst/>
              <a:rect l="l" t="t" r="r" b="b"/>
              <a:pathLst>
                <a:path w="2568427" h="2674453">
                  <a:moveTo>
                    <a:pt x="0" y="1337226"/>
                  </a:moveTo>
                  <a:cubicBezTo>
                    <a:pt x="0" y="598691"/>
                    <a:pt x="574957" y="0"/>
                    <a:pt x="1284214" y="0"/>
                  </a:cubicBezTo>
                  <a:cubicBezTo>
                    <a:pt x="1993471" y="0"/>
                    <a:pt x="2568427" y="598691"/>
                    <a:pt x="2568427" y="1337226"/>
                  </a:cubicBezTo>
                  <a:cubicBezTo>
                    <a:pt x="2568427" y="2075761"/>
                    <a:pt x="1993471" y="2674453"/>
                    <a:pt x="1284214" y="2674453"/>
                  </a:cubicBezTo>
                  <a:cubicBezTo>
                    <a:pt x="574957" y="2674453"/>
                    <a:pt x="0" y="2075902"/>
                    <a:pt x="0" y="1337226"/>
                  </a:cubicBezTo>
                  <a:close/>
                </a:path>
              </a:pathLst>
            </a:custGeom>
            <a:solidFill>
              <a:srgbClr val="EEEEEE"/>
            </a:solidFill>
          </p:spPr>
        </p:sp>
        <p:sp>
          <p:nvSpPr>
            <p:cNvPr id="15" name="Freeform 15"/>
            <p:cNvSpPr/>
            <p:nvPr/>
          </p:nvSpPr>
          <p:spPr>
            <a:xfrm>
              <a:off x="0" y="0"/>
              <a:ext cx="2595395" cy="2702534"/>
            </a:xfrm>
            <a:custGeom>
              <a:avLst/>
              <a:gdLst/>
              <a:ahLst/>
              <a:cxnLst/>
              <a:rect l="l" t="t" r="r" b="b"/>
              <a:pathLst>
                <a:path w="2595395" h="2702534">
                  <a:moveTo>
                    <a:pt x="0" y="1351267"/>
                  </a:moveTo>
                  <a:cubicBezTo>
                    <a:pt x="0" y="605009"/>
                    <a:pt x="581024" y="0"/>
                    <a:pt x="1297698" y="0"/>
                  </a:cubicBezTo>
                  <a:lnTo>
                    <a:pt x="1297698" y="14041"/>
                  </a:lnTo>
                  <a:lnTo>
                    <a:pt x="1297698" y="0"/>
                  </a:lnTo>
                  <a:cubicBezTo>
                    <a:pt x="2014371" y="0"/>
                    <a:pt x="2595395" y="605009"/>
                    <a:pt x="2595395" y="1351267"/>
                  </a:cubicBezTo>
                  <a:lnTo>
                    <a:pt x="2581911" y="1351267"/>
                  </a:lnTo>
                  <a:lnTo>
                    <a:pt x="2595395" y="1351267"/>
                  </a:lnTo>
                  <a:cubicBezTo>
                    <a:pt x="2595395" y="2097525"/>
                    <a:pt x="2014371" y="2702534"/>
                    <a:pt x="1297698" y="2702534"/>
                  </a:cubicBezTo>
                  <a:lnTo>
                    <a:pt x="1297698" y="2688494"/>
                  </a:lnTo>
                  <a:lnTo>
                    <a:pt x="1297698" y="2702534"/>
                  </a:lnTo>
                  <a:cubicBezTo>
                    <a:pt x="581024" y="2702672"/>
                    <a:pt x="0" y="2097665"/>
                    <a:pt x="0" y="1351267"/>
                  </a:cubicBezTo>
                  <a:lnTo>
                    <a:pt x="13484" y="1351267"/>
                  </a:lnTo>
                  <a:lnTo>
                    <a:pt x="26968" y="1351267"/>
                  </a:lnTo>
                  <a:lnTo>
                    <a:pt x="13484" y="1351267"/>
                  </a:lnTo>
                  <a:lnTo>
                    <a:pt x="0" y="1351267"/>
                  </a:lnTo>
                  <a:moveTo>
                    <a:pt x="26968" y="1351267"/>
                  </a:moveTo>
                  <a:cubicBezTo>
                    <a:pt x="26968" y="1358989"/>
                    <a:pt x="20900" y="1365308"/>
                    <a:pt x="13484" y="1365308"/>
                  </a:cubicBezTo>
                  <a:cubicBezTo>
                    <a:pt x="6068" y="1365308"/>
                    <a:pt x="0" y="1358989"/>
                    <a:pt x="0" y="1351267"/>
                  </a:cubicBezTo>
                  <a:cubicBezTo>
                    <a:pt x="0" y="1343545"/>
                    <a:pt x="6068" y="1337227"/>
                    <a:pt x="13484" y="1337227"/>
                  </a:cubicBezTo>
                  <a:cubicBezTo>
                    <a:pt x="20900" y="1337227"/>
                    <a:pt x="26968" y="1343545"/>
                    <a:pt x="26968" y="1351267"/>
                  </a:cubicBezTo>
                  <a:cubicBezTo>
                    <a:pt x="26968" y="2082080"/>
                    <a:pt x="595857" y="2674453"/>
                    <a:pt x="1297698" y="2674453"/>
                  </a:cubicBezTo>
                  <a:cubicBezTo>
                    <a:pt x="1999538" y="2674453"/>
                    <a:pt x="2568427" y="2082080"/>
                    <a:pt x="2568427" y="1351267"/>
                  </a:cubicBezTo>
                  <a:cubicBezTo>
                    <a:pt x="2568427" y="620454"/>
                    <a:pt x="1999538" y="28081"/>
                    <a:pt x="1297698" y="28081"/>
                  </a:cubicBezTo>
                  <a:lnTo>
                    <a:pt x="1297698" y="14041"/>
                  </a:lnTo>
                  <a:lnTo>
                    <a:pt x="1297698" y="28081"/>
                  </a:lnTo>
                  <a:cubicBezTo>
                    <a:pt x="595857" y="28081"/>
                    <a:pt x="26968" y="620454"/>
                    <a:pt x="26968" y="1351267"/>
                  </a:cubicBezTo>
                  <a:close/>
                </a:path>
              </a:pathLst>
            </a:custGeom>
            <a:solidFill>
              <a:srgbClr val="595959"/>
            </a:solidFill>
          </p:spPr>
        </p:sp>
        <p:sp>
          <p:nvSpPr>
            <p:cNvPr id="16" name="TextBox 16"/>
            <p:cNvSpPr txBox="1"/>
            <p:nvPr/>
          </p:nvSpPr>
          <p:spPr>
            <a:xfrm>
              <a:off x="0" y="-38100"/>
              <a:ext cx="2595506" cy="2740749"/>
            </a:xfrm>
            <a:prstGeom prst="rect">
              <a:avLst/>
            </a:prstGeom>
          </p:spPr>
          <p:txBody>
            <a:bodyPr lIns="21318" tIns="21318" rIns="21318" bIns="21318" rtlCol="0" anchor="ctr"/>
            <a:lstStyle/>
            <a:p>
              <a:pPr algn="ctr">
                <a:lnSpc>
                  <a:spcPts val="2014"/>
                </a:lnSpc>
              </a:pPr>
              <a:r>
                <a:rPr lang="en-US" sz="1678">
                  <a:solidFill>
                    <a:srgbClr val="000000"/>
                  </a:solidFill>
                  <a:latin typeface="Times New Roman MT"/>
                  <a:ea typeface="Times New Roman MT"/>
                  <a:cs typeface="Times New Roman MT"/>
                  <a:sym typeface="Times New Roman MT"/>
                </a:rPr>
                <a:t>15</a:t>
              </a:r>
            </a:p>
          </p:txBody>
        </p:sp>
      </p:grpSp>
      <p:sp>
        <p:nvSpPr>
          <p:cNvPr id="17" name="TextBox 17"/>
          <p:cNvSpPr txBox="1"/>
          <p:nvPr/>
        </p:nvSpPr>
        <p:spPr>
          <a:xfrm>
            <a:off x="8918207" y="4882825"/>
            <a:ext cx="152400" cy="171450"/>
          </a:xfrm>
          <a:prstGeom prst="rect">
            <a:avLst/>
          </a:prstGeom>
        </p:spPr>
        <p:txBody>
          <a:bodyPr wrap="none" lIns="0" tIns="0" rIns="0" bIns="0" rtlCol="0" anchor="t">
            <a:spAutoFit/>
          </a:bodyPr>
          <a:lstStyle/>
          <a:p>
            <a:pPr algn="ctr">
              <a:lnSpc>
                <a:spcPts val="1540"/>
              </a:lnSpc>
              <a:spcBef>
                <a:spcPct val="0"/>
              </a:spcBef>
            </a:pPr>
            <a:r>
              <a:rPr lang="en-US" sz="1100">
                <a:solidFill>
                  <a:srgbClr val="000000"/>
                </a:solidFill>
                <a:latin typeface="Canva Sans"/>
                <a:ea typeface="Canva Sans"/>
                <a:cs typeface="Canva Sans"/>
                <a:sym typeface="Canva Sans"/>
              </a:rPr>
              <a:t>4</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918207" y="4898657"/>
            <a:ext cx="152400" cy="171450"/>
          </a:xfrm>
          <a:prstGeom prst="rect">
            <a:avLst/>
          </a:prstGeom>
        </p:spPr>
        <p:txBody>
          <a:bodyPr wrap="none" lIns="0" tIns="0" rIns="0" bIns="0" rtlCol="0" anchor="t">
            <a:spAutoFit/>
          </a:bodyPr>
          <a:lstStyle/>
          <a:p>
            <a:pPr algn="ctr">
              <a:lnSpc>
                <a:spcPts val="1540"/>
              </a:lnSpc>
              <a:spcBef>
                <a:spcPct val="0"/>
              </a:spcBef>
            </a:pPr>
            <a:r>
              <a:rPr lang="en-US" sz="1100">
                <a:solidFill>
                  <a:srgbClr val="000000"/>
                </a:solidFill>
                <a:latin typeface="Canva Sans"/>
                <a:ea typeface="Canva Sans"/>
                <a:cs typeface="Canva Sans"/>
                <a:sym typeface="Canva Sans"/>
              </a:rPr>
              <a:t>5</a:t>
            </a:r>
          </a:p>
        </p:txBody>
      </p:sp>
      <p:graphicFrame>
        <p:nvGraphicFramePr>
          <p:cNvPr id="3" name="Table 3"/>
          <p:cNvGraphicFramePr>
            <a:graphicFrameLocks noGrp="1"/>
          </p:cNvGraphicFramePr>
          <p:nvPr/>
        </p:nvGraphicFramePr>
        <p:xfrm>
          <a:off x="200707" y="1039953"/>
          <a:ext cx="8800099" cy="3819464"/>
        </p:xfrm>
        <a:graphic>
          <a:graphicData uri="http://schemas.openxmlformats.org/drawingml/2006/table">
            <a:tbl>
              <a:tblPr/>
              <a:tblGrid>
                <a:gridCol w="1822966">
                  <a:extLst>
                    <a:ext uri="{9D8B030D-6E8A-4147-A177-3AD203B41FA5}">
                      <a16:colId xmlns:a16="http://schemas.microsoft.com/office/drawing/2014/main" val="20000"/>
                    </a:ext>
                  </a:extLst>
                </a:gridCol>
                <a:gridCol w="3188775">
                  <a:extLst>
                    <a:ext uri="{9D8B030D-6E8A-4147-A177-3AD203B41FA5}">
                      <a16:colId xmlns:a16="http://schemas.microsoft.com/office/drawing/2014/main" val="20001"/>
                    </a:ext>
                  </a:extLst>
                </a:gridCol>
                <a:gridCol w="3788358">
                  <a:extLst>
                    <a:ext uri="{9D8B030D-6E8A-4147-A177-3AD203B41FA5}">
                      <a16:colId xmlns:a16="http://schemas.microsoft.com/office/drawing/2014/main" val="20002"/>
                    </a:ext>
                  </a:extLst>
                </a:gridCol>
              </a:tblGrid>
              <a:tr h="559483">
                <a:tc>
                  <a:txBody>
                    <a:bodyPr/>
                    <a:lstStyle/>
                    <a:p>
                      <a:pPr algn="ctr">
                        <a:lnSpc>
                          <a:spcPts val="1680"/>
                        </a:lnSpc>
                        <a:defRPr/>
                      </a:pPr>
                      <a:r>
                        <a:rPr lang="en-US" sz="1400">
                          <a:solidFill>
                            <a:srgbClr val="000000"/>
                          </a:solidFill>
                          <a:latin typeface="Arial MT Pro"/>
                          <a:ea typeface="Arial MT Pro"/>
                          <a:cs typeface="Arial MT Pro"/>
                          <a:sym typeface="Arial MT Pro"/>
                        </a:rPr>
                        <a:t>Core</a:t>
                      </a:r>
                      <a:endParaRPr lang="en-US" sz="1100"/>
                    </a:p>
                  </a:txBody>
                  <a:tcPr marL="45713" marR="45713" marT="45713" marB="45713" anchor="ctr">
                    <a:lnL w="2381" cap="flat" cmpd="sng" algn="ctr">
                      <a:solidFill>
                        <a:srgbClr val="000000"/>
                      </a:solidFill>
                      <a:prstDash val="solid"/>
                      <a:round/>
                      <a:headEnd type="none" w="med" len="med"/>
                      <a:tailEnd type="none" w="med" len="med"/>
                    </a:lnL>
                    <a:lnR w="2381" cap="flat" cmpd="sng" algn="ctr">
                      <a:solidFill>
                        <a:srgbClr val="000000"/>
                      </a:solidFill>
                      <a:prstDash val="solid"/>
                      <a:round/>
                      <a:headEnd type="none" w="med" len="med"/>
                      <a:tailEnd type="none" w="med" len="med"/>
                    </a:lnR>
                    <a:lnT w="2381" cap="flat" cmpd="sng" algn="ctr">
                      <a:solidFill>
                        <a:srgbClr val="000000"/>
                      </a:solidFill>
                      <a:prstDash val="solid"/>
                      <a:round/>
                      <a:headEnd type="none" w="med" len="med"/>
                      <a:tailEnd type="none" w="med" len="med"/>
                    </a:lnT>
                    <a:lnB w="2381" cap="flat" cmpd="sng" algn="ctr">
                      <a:solidFill>
                        <a:srgbClr val="000000"/>
                      </a:solidFill>
                      <a:prstDash val="solid"/>
                      <a:round/>
                      <a:headEnd type="none" w="med" len="med"/>
                      <a:tailEnd type="none" w="med" len="med"/>
                    </a:lnB>
                  </a:tcPr>
                </a:tc>
                <a:tc>
                  <a:txBody>
                    <a:bodyPr/>
                    <a:lstStyle/>
                    <a:p>
                      <a:pPr algn="ctr">
                        <a:lnSpc>
                          <a:spcPts val="1959"/>
                        </a:lnSpc>
                        <a:defRPr/>
                      </a:pPr>
                      <a:r>
                        <a:rPr lang="en-US" sz="1399">
                          <a:solidFill>
                            <a:srgbClr val="000000"/>
                          </a:solidFill>
                          <a:latin typeface="Arial MT Pro"/>
                          <a:ea typeface="Arial MT Pro"/>
                          <a:cs typeface="Arial MT Pro"/>
                          <a:sym typeface="Arial MT Pro"/>
                        </a:rPr>
                        <a:t>Findings</a:t>
                      </a:r>
                      <a:endParaRPr lang="en-US" sz="1100"/>
                    </a:p>
                  </a:txBody>
                  <a:tcPr marL="45713" marR="45713" marT="45713" marB="45713" anchor="ctr">
                    <a:lnL w="2381" cap="flat" cmpd="sng" algn="ctr">
                      <a:solidFill>
                        <a:srgbClr val="000000"/>
                      </a:solidFill>
                      <a:prstDash val="solid"/>
                      <a:round/>
                      <a:headEnd type="none" w="med" len="med"/>
                      <a:tailEnd type="none" w="med" len="med"/>
                    </a:lnL>
                    <a:lnR w="2381" cap="flat" cmpd="sng" algn="ctr">
                      <a:solidFill>
                        <a:srgbClr val="000000"/>
                      </a:solidFill>
                      <a:prstDash val="solid"/>
                      <a:round/>
                      <a:headEnd type="none" w="med" len="med"/>
                      <a:tailEnd type="none" w="med" len="med"/>
                    </a:lnR>
                    <a:lnT w="2381" cap="flat" cmpd="sng" algn="ctr">
                      <a:solidFill>
                        <a:srgbClr val="000000"/>
                      </a:solidFill>
                      <a:prstDash val="solid"/>
                      <a:round/>
                      <a:headEnd type="none" w="med" len="med"/>
                      <a:tailEnd type="none" w="med" len="med"/>
                    </a:lnT>
                    <a:lnB w="2381" cap="flat" cmpd="sng" algn="ctr">
                      <a:solidFill>
                        <a:srgbClr val="000000"/>
                      </a:solidFill>
                      <a:prstDash val="solid"/>
                      <a:round/>
                      <a:headEnd type="none" w="med" len="med"/>
                      <a:tailEnd type="none" w="med" len="med"/>
                    </a:lnB>
                  </a:tcPr>
                </a:tc>
                <a:tc>
                  <a:txBody>
                    <a:bodyPr/>
                    <a:lstStyle/>
                    <a:p>
                      <a:pPr algn="ctr">
                        <a:lnSpc>
                          <a:spcPts val="1680"/>
                        </a:lnSpc>
                        <a:defRPr/>
                      </a:pPr>
                      <a:r>
                        <a:rPr lang="en-US" sz="1400">
                          <a:solidFill>
                            <a:srgbClr val="000000"/>
                          </a:solidFill>
                          <a:latin typeface="Arial MT Pro"/>
                          <a:ea typeface="Arial MT Pro"/>
                          <a:cs typeface="Arial MT Pro"/>
                          <a:sym typeface="Arial MT Pro"/>
                        </a:rPr>
                        <a:t>Gap / Future Work highlighted by paper</a:t>
                      </a:r>
                      <a:endParaRPr lang="en-US" sz="1100"/>
                    </a:p>
                  </a:txBody>
                  <a:tcPr marL="45713" marR="45713" marT="45713" marB="45713" anchor="ctr">
                    <a:lnL w="2381" cap="flat" cmpd="sng" algn="ctr">
                      <a:solidFill>
                        <a:srgbClr val="000000"/>
                      </a:solidFill>
                      <a:prstDash val="solid"/>
                      <a:round/>
                      <a:headEnd type="none" w="med" len="med"/>
                      <a:tailEnd type="none" w="med" len="med"/>
                    </a:lnL>
                    <a:lnR w="2381" cap="flat" cmpd="sng" algn="ctr">
                      <a:solidFill>
                        <a:srgbClr val="000000"/>
                      </a:solidFill>
                      <a:prstDash val="solid"/>
                      <a:round/>
                      <a:headEnd type="none" w="med" len="med"/>
                      <a:tailEnd type="none" w="med" len="med"/>
                    </a:lnR>
                    <a:lnT w="2381" cap="flat" cmpd="sng" algn="ctr">
                      <a:solidFill>
                        <a:srgbClr val="000000"/>
                      </a:solidFill>
                      <a:prstDash val="solid"/>
                      <a:round/>
                      <a:headEnd type="none" w="med" len="med"/>
                      <a:tailEnd type="none" w="med" len="med"/>
                    </a:lnT>
                    <a:lnB w="2381"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895909">
                <a:tc>
                  <a:txBody>
                    <a:bodyPr/>
                    <a:lstStyle/>
                    <a:p>
                      <a:pPr algn="l">
                        <a:lnSpc>
                          <a:spcPts val="1539"/>
                        </a:lnSpc>
                        <a:defRPr/>
                      </a:pPr>
                      <a:r>
                        <a:rPr lang="en-US" sz="1099">
                          <a:solidFill>
                            <a:srgbClr val="000000"/>
                          </a:solidFill>
                          <a:latin typeface="Arimo"/>
                          <a:ea typeface="Arimo"/>
                          <a:cs typeface="Arimo"/>
                          <a:sym typeface="Arimo"/>
                        </a:rPr>
                        <a:t>Generative Artificial Intelligence and Copyright Law[4]</a:t>
                      </a:r>
                      <a:endParaRPr lang="en-US" sz="1100"/>
                    </a:p>
                  </a:txBody>
                  <a:tcPr marL="45713" marR="45713" marT="45713" marB="45713" anchor="ctr">
                    <a:lnL w="2381" cap="flat" cmpd="sng" algn="ctr">
                      <a:solidFill>
                        <a:srgbClr val="000000"/>
                      </a:solidFill>
                      <a:prstDash val="solid"/>
                      <a:round/>
                      <a:headEnd type="none" w="med" len="med"/>
                      <a:tailEnd type="none" w="med" len="med"/>
                    </a:lnL>
                    <a:lnR w="2381" cap="flat" cmpd="sng" algn="ctr">
                      <a:solidFill>
                        <a:srgbClr val="000000"/>
                      </a:solidFill>
                      <a:prstDash val="solid"/>
                      <a:round/>
                      <a:headEnd type="none" w="med" len="med"/>
                      <a:tailEnd type="none" w="med" len="med"/>
                    </a:lnR>
                    <a:lnT w="2381" cap="flat" cmpd="sng" algn="ctr">
                      <a:solidFill>
                        <a:srgbClr val="000000"/>
                      </a:solidFill>
                      <a:prstDash val="solid"/>
                      <a:round/>
                      <a:headEnd type="none" w="med" len="med"/>
                      <a:tailEnd type="none" w="med" len="med"/>
                    </a:lnT>
                    <a:lnB w="2381" cap="flat" cmpd="sng" algn="ctr">
                      <a:solidFill>
                        <a:srgbClr val="000000"/>
                      </a:solidFill>
                      <a:prstDash val="solid"/>
                      <a:round/>
                      <a:headEnd type="none" w="med" len="med"/>
                      <a:tailEnd type="none" w="med" len="med"/>
                    </a:lnB>
                  </a:tcPr>
                </a:tc>
                <a:tc>
                  <a:txBody>
                    <a:bodyPr/>
                    <a:lstStyle/>
                    <a:p>
                      <a:pPr algn="l">
                        <a:lnSpc>
                          <a:spcPts val="1540"/>
                        </a:lnSpc>
                        <a:defRPr/>
                      </a:pPr>
                      <a:r>
                        <a:rPr lang="en-US" sz="1100" dirty="0">
                          <a:solidFill>
                            <a:srgbClr val="000000"/>
                          </a:solidFill>
                          <a:latin typeface="Arimo"/>
                          <a:ea typeface="Arimo"/>
                          <a:cs typeface="Arimo"/>
                          <a:sym typeface="Arimo"/>
                        </a:rPr>
                        <a:t>The paper examines key legal principles—authorship, fair use, and infringement—and analyzes how these concepts apply to generative AI within existing copyright law frameworks.</a:t>
                      </a:r>
                      <a:endParaRPr lang="en-US" sz="1100" dirty="0"/>
                    </a:p>
                  </a:txBody>
                  <a:tcPr marL="45713" marR="45713" marT="45713" marB="45713" anchor="ctr">
                    <a:lnL w="2381"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2381"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1539"/>
                        </a:lnSpc>
                        <a:defRPr/>
                      </a:pPr>
                      <a:r>
                        <a:rPr lang="en-US" sz="1099">
                          <a:solidFill>
                            <a:srgbClr val="000000"/>
                          </a:solidFill>
                          <a:latin typeface="Arimo"/>
                          <a:ea typeface="Arimo"/>
                          <a:cs typeface="Arimo"/>
                          <a:sym typeface="Arimo"/>
                        </a:rPr>
                        <a:t>Future work in this area requires developing clearer legislation to address a legal landscape that is rapidly evolving.</a:t>
                      </a:r>
                      <a:endParaRPr lang="en-US" sz="1100"/>
                    </a:p>
                  </a:txBody>
                  <a:tcPr marL="45713" marR="45713" marT="45713" marB="45713" anchor="ctr">
                    <a:lnL w="4762" cap="flat" cmpd="sng" algn="ctr">
                      <a:solidFill>
                        <a:srgbClr val="000000"/>
                      </a:solidFill>
                      <a:prstDash val="solid"/>
                      <a:round/>
                      <a:headEnd type="none" w="med" len="med"/>
                      <a:tailEnd type="none" w="med" len="med"/>
                    </a:lnL>
                    <a:lnR w="2381" cap="flat" cmpd="sng" algn="ctr">
                      <a:solidFill>
                        <a:srgbClr val="000000"/>
                      </a:solidFill>
                      <a:prstDash val="solid"/>
                      <a:round/>
                      <a:headEnd type="none" w="med" len="med"/>
                      <a:tailEnd type="none" w="med" len="med"/>
                    </a:lnR>
                    <a:lnT w="2381" cap="flat" cmpd="sng" algn="ctr">
                      <a:solidFill>
                        <a:srgbClr val="000000"/>
                      </a:solidFill>
                      <a:prstDash val="solid"/>
                      <a:round/>
                      <a:headEnd type="none" w="med" len="med"/>
                      <a:tailEnd type="none" w="med" len="med"/>
                    </a:lnT>
                    <a:lnB w="2381"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895909">
                <a:tc>
                  <a:txBody>
                    <a:bodyPr/>
                    <a:lstStyle/>
                    <a:p>
                      <a:pPr algn="l">
                        <a:lnSpc>
                          <a:spcPts val="1539"/>
                        </a:lnSpc>
                        <a:defRPr/>
                      </a:pPr>
                      <a:r>
                        <a:rPr lang="en-US" sz="1099">
                          <a:solidFill>
                            <a:srgbClr val="000000"/>
                          </a:solidFill>
                          <a:latin typeface="Arimo"/>
                          <a:ea typeface="Arimo"/>
                          <a:cs typeface="Arimo"/>
                          <a:sym typeface="Arimo"/>
                        </a:rPr>
                        <a:t>The Study of Copyright Infringement Liability of Generative Artificial Intelligence[3]</a:t>
                      </a:r>
                      <a:endParaRPr lang="en-US" sz="1100"/>
                    </a:p>
                  </a:txBody>
                  <a:tcPr marL="45713" marR="45713" marT="45713" marB="45713" anchor="ctr">
                    <a:lnL w="2381" cap="flat" cmpd="sng" algn="ctr">
                      <a:solidFill>
                        <a:srgbClr val="000000"/>
                      </a:solidFill>
                      <a:prstDash val="solid"/>
                      <a:round/>
                      <a:headEnd type="none" w="med" len="med"/>
                      <a:tailEnd type="none" w="med" len="med"/>
                    </a:lnL>
                    <a:lnR w="2381" cap="flat" cmpd="sng" algn="ctr">
                      <a:solidFill>
                        <a:srgbClr val="000000"/>
                      </a:solidFill>
                      <a:prstDash val="solid"/>
                      <a:round/>
                      <a:headEnd type="none" w="med" len="med"/>
                      <a:tailEnd type="none" w="med" len="med"/>
                    </a:lnR>
                    <a:lnT w="2381" cap="flat" cmpd="sng" algn="ctr">
                      <a:solidFill>
                        <a:srgbClr val="000000"/>
                      </a:solidFill>
                      <a:prstDash val="solid"/>
                      <a:round/>
                      <a:headEnd type="none" w="med" len="med"/>
                      <a:tailEnd type="none" w="med" len="med"/>
                    </a:lnT>
                    <a:lnB w="2381" cap="flat" cmpd="sng" algn="ctr">
                      <a:solidFill>
                        <a:srgbClr val="000000"/>
                      </a:solidFill>
                      <a:prstDash val="solid"/>
                      <a:round/>
                      <a:headEnd type="none" w="med" len="med"/>
                      <a:tailEnd type="none" w="med" len="med"/>
                    </a:lnB>
                  </a:tcPr>
                </a:tc>
                <a:tc>
                  <a:txBody>
                    <a:bodyPr/>
                    <a:lstStyle/>
                    <a:p>
                      <a:pPr algn="l">
                        <a:lnSpc>
                          <a:spcPts val="1540"/>
                        </a:lnSpc>
                        <a:defRPr/>
                      </a:pPr>
                      <a:r>
                        <a:rPr lang="en-US" sz="1100">
                          <a:solidFill>
                            <a:srgbClr val="000000"/>
                          </a:solidFill>
                          <a:latin typeface="Arimo"/>
                          <a:ea typeface="Arimo"/>
                          <a:cs typeface="Arimo"/>
                          <a:sym typeface="Arimo"/>
                        </a:rPr>
                        <a:t>This study evaluates legal liability frameworks and relevant legal factors to determine responsibility for copyright infringement in generative AI systems.</a:t>
                      </a:r>
                      <a:endParaRPr lang="en-US" sz="1100"/>
                    </a:p>
                  </a:txBody>
                  <a:tcPr marL="45713" marR="45713" marT="45713" marB="45713" anchor="ctr">
                    <a:lnL w="2381"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1539"/>
                        </a:lnSpc>
                        <a:defRPr/>
                      </a:pPr>
                      <a:r>
                        <a:rPr lang="en-US" sz="1099">
                          <a:solidFill>
                            <a:srgbClr val="000000"/>
                          </a:solidFill>
                          <a:latin typeface="Arimo"/>
                          <a:ea typeface="Arimo"/>
                          <a:cs typeface="Arimo"/>
                          <a:sym typeface="Arimo"/>
                        </a:rPr>
                        <a:t>This paper highlights a gap in current approaches, pointing to the need for better technical solutions and more comprehensive legal frameworks.</a:t>
                      </a:r>
                      <a:endParaRPr lang="en-US" sz="1100"/>
                    </a:p>
                  </a:txBody>
                  <a:tcPr marL="45713" marR="45713" marT="45713" marB="45713" anchor="ctr">
                    <a:lnL w="4762" cap="flat" cmpd="sng" algn="ctr">
                      <a:solidFill>
                        <a:srgbClr val="000000"/>
                      </a:solidFill>
                      <a:prstDash val="solid"/>
                      <a:round/>
                      <a:headEnd type="none" w="med" len="med"/>
                      <a:tailEnd type="none" w="med" len="med"/>
                    </a:lnL>
                    <a:lnR w="2381" cap="flat" cmpd="sng" algn="ctr">
                      <a:solidFill>
                        <a:srgbClr val="000000"/>
                      </a:solidFill>
                      <a:prstDash val="solid"/>
                      <a:round/>
                      <a:headEnd type="none" w="med" len="med"/>
                      <a:tailEnd type="none" w="med" len="med"/>
                    </a:lnR>
                    <a:lnT w="2381" cap="flat" cmpd="sng" algn="ctr">
                      <a:solidFill>
                        <a:srgbClr val="000000"/>
                      </a:solidFill>
                      <a:prstDash val="solid"/>
                      <a:round/>
                      <a:headEnd type="none" w="med" len="med"/>
                      <a:tailEnd type="none" w="med" len="med"/>
                    </a:lnT>
                    <a:lnB w="2381"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468163">
                <a:tc>
                  <a:txBody>
                    <a:bodyPr/>
                    <a:lstStyle/>
                    <a:p>
                      <a:pPr algn="l">
                        <a:lnSpc>
                          <a:spcPts val="1539"/>
                        </a:lnSpc>
                        <a:defRPr/>
                      </a:pPr>
                      <a:r>
                        <a:rPr lang="en-US" sz="1099">
                          <a:solidFill>
                            <a:srgbClr val="000000"/>
                          </a:solidFill>
                          <a:latin typeface="Arimo"/>
                          <a:ea typeface="Arimo"/>
                          <a:cs typeface="Arimo"/>
                          <a:sym typeface="Arimo"/>
                        </a:rPr>
                        <a:t>Hybrid using Cosine and Stylometric[2] </a:t>
                      </a:r>
                      <a:endParaRPr lang="en-US" sz="1100"/>
                    </a:p>
                  </a:txBody>
                  <a:tcPr marL="45713" marR="45713" marT="45713" marB="45713" anchor="ctr">
                    <a:lnL w="2381" cap="flat" cmpd="sng" algn="ctr">
                      <a:solidFill>
                        <a:srgbClr val="000000"/>
                      </a:solidFill>
                      <a:prstDash val="solid"/>
                      <a:round/>
                      <a:headEnd type="none" w="med" len="med"/>
                      <a:tailEnd type="none" w="med" len="med"/>
                    </a:lnL>
                    <a:lnR w="2381" cap="flat" cmpd="sng" algn="ctr">
                      <a:solidFill>
                        <a:srgbClr val="000000"/>
                      </a:solidFill>
                      <a:prstDash val="solid"/>
                      <a:round/>
                      <a:headEnd type="none" w="med" len="med"/>
                      <a:tailEnd type="none" w="med" len="med"/>
                    </a:lnR>
                    <a:lnT w="2381" cap="flat" cmpd="sng" algn="ctr">
                      <a:solidFill>
                        <a:srgbClr val="000000"/>
                      </a:solidFill>
                      <a:prstDash val="solid"/>
                      <a:round/>
                      <a:headEnd type="none" w="med" len="med"/>
                      <a:tailEnd type="none" w="med" len="med"/>
                    </a:lnT>
                    <a:lnB w="2381" cap="flat" cmpd="sng" algn="ctr">
                      <a:solidFill>
                        <a:srgbClr val="000000"/>
                      </a:solidFill>
                      <a:prstDash val="solid"/>
                      <a:round/>
                      <a:headEnd type="none" w="med" len="med"/>
                      <a:tailEnd type="none" w="med" len="med"/>
                    </a:lnB>
                  </a:tcPr>
                </a:tc>
                <a:tc>
                  <a:txBody>
                    <a:bodyPr/>
                    <a:lstStyle/>
                    <a:p>
                      <a:pPr algn="l">
                        <a:lnSpc>
                          <a:spcPts val="1540"/>
                        </a:lnSpc>
                        <a:defRPr/>
                      </a:pPr>
                      <a:r>
                        <a:rPr lang="en-US" sz="1100">
                          <a:solidFill>
                            <a:srgbClr val="000000"/>
                          </a:solidFill>
                          <a:latin typeface="Arimo"/>
                          <a:ea typeface="Arimo"/>
                          <a:cs typeface="Arimo"/>
                          <a:sym typeface="Arimo"/>
                        </a:rPr>
                        <a:t>The proposed hybrid approach combines cosine similarity and stylometric analysis to effectively detect both semantic and stylistic similarities in AI-generated text.</a:t>
                      </a:r>
                      <a:endParaRPr lang="en-US" sz="1100"/>
                    </a:p>
                  </a:txBody>
                  <a:tcPr marL="45713" marR="45713" marT="45713" marB="45713" anchor="ctr">
                    <a:lnL w="2381" cap="flat" cmpd="sng" algn="ctr">
                      <a:solidFill>
                        <a:srgbClr val="000000"/>
                      </a:solidFill>
                      <a:prstDash val="solid"/>
                      <a:round/>
                      <a:headEnd type="none" w="med" len="med"/>
                      <a:tailEnd type="none" w="med" len="med"/>
                    </a:lnL>
                    <a:lnR w="2381"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2381" cap="flat" cmpd="sng" algn="ctr">
                      <a:solidFill>
                        <a:srgbClr val="000000"/>
                      </a:solidFill>
                      <a:prstDash val="solid"/>
                      <a:round/>
                      <a:headEnd type="none" w="med" len="med"/>
                      <a:tailEnd type="none" w="med" len="med"/>
                    </a:lnB>
                  </a:tcPr>
                </a:tc>
                <a:tc>
                  <a:txBody>
                    <a:bodyPr/>
                    <a:lstStyle/>
                    <a:p>
                      <a:pPr algn="l">
                        <a:lnSpc>
                          <a:spcPts val="1539"/>
                        </a:lnSpc>
                        <a:defRPr/>
                      </a:pPr>
                      <a:r>
                        <a:rPr lang="en-US" sz="1099" dirty="0">
                          <a:solidFill>
                            <a:srgbClr val="000000"/>
                          </a:solidFill>
                          <a:latin typeface="Arimo"/>
                          <a:ea typeface="Arimo"/>
                          <a:cs typeface="Arimo"/>
                          <a:sym typeface="Arimo"/>
                        </a:rPr>
                        <a:t>Needs validation, legal alignment, robustness to paraphrase, images, audio.</a:t>
                      </a:r>
                      <a:endParaRPr lang="en-US" sz="1100" dirty="0"/>
                    </a:p>
                  </a:txBody>
                  <a:tcPr marL="45713" marR="45713" marT="45713" marB="45713" anchor="ctr">
                    <a:lnL w="2381" cap="flat" cmpd="sng" algn="ctr">
                      <a:solidFill>
                        <a:srgbClr val="000000"/>
                      </a:solidFill>
                      <a:prstDash val="solid"/>
                      <a:round/>
                      <a:headEnd type="none" w="med" len="med"/>
                      <a:tailEnd type="none" w="med" len="med"/>
                    </a:lnL>
                    <a:lnR w="2381" cap="flat" cmpd="sng" algn="ctr">
                      <a:solidFill>
                        <a:srgbClr val="000000"/>
                      </a:solidFill>
                      <a:prstDash val="solid"/>
                      <a:round/>
                      <a:headEnd type="none" w="med" len="med"/>
                      <a:tailEnd type="none" w="med" len="med"/>
                    </a:lnR>
                    <a:lnT w="2381" cap="flat" cmpd="sng" algn="ctr">
                      <a:solidFill>
                        <a:srgbClr val="000000"/>
                      </a:solidFill>
                      <a:prstDash val="solid"/>
                      <a:round/>
                      <a:headEnd type="none" w="med" len="med"/>
                      <a:tailEnd type="none" w="med" len="med"/>
                    </a:lnT>
                    <a:lnB w="2381"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4" name="Freeform 4"/>
          <p:cNvSpPr/>
          <p:nvPr/>
        </p:nvSpPr>
        <p:spPr>
          <a:xfrm>
            <a:off x="28379" y="26460"/>
            <a:ext cx="971943" cy="1013493"/>
          </a:xfrm>
          <a:custGeom>
            <a:avLst/>
            <a:gdLst/>
            <a:ahLst/>
            <a:cxnLst/>
            <a:rect l="l" t="t" r="r" b="b"/>
            <a:pathLst>
              <a:path w="971943" h="1013493">
                <a:moveTo>
                  <a:pt x="0" y="0"/>
                </a:moveTo>
                <a:lnTo>
                  <a:pt x="971942" y="0"/>
                </a:lnTo>
                <a:lnTo>
                  <a:pt x="971942" y="1013493"/>
                </a:lnTo>
                <a:lnTo>
                  <a:pt x="0" y="1013493"/>
                </a:lnTo>
                <a:lnTo>
                  <a:pt x="0" y="0"/>
                </a:lnTo>
                <a:close/>
              </a:path>
            </a:pathLst>
          </a:custGeom>
          <a:blipFill>
            <a:blip r:embed="rId2"/>
            <a:stretch>
              <a:fillRect l="-2670" t="-1023" r="-2670"/>
            </a:stretch>
          </a:blipFill>
        </p:spPr>
      </p:sp>
      <p:grpSp>
        <p:nvGrpSpPr>
          <p:cNvPr id="5" name="Group 5"/>
          <p:cNvGrpSpPr/>
          <p:nvPr/>
        </p:nvGrpSpPr>
        <p:grpSpPr>
          <a:xfrm>
            <a:off x="8327115" y="25155"/>
            <a:ext cx="816885" cy="850606"/>
            <a:chOff x="0" y="0"/>
            <a:chExt cx="2595506" cy="2702649"/>
          </a:xfrm>
        </p:grpSpPr>
        <p:sp>
          <p:nvSpPr>
            <p:cNvPr id="6" name="Freeform 6"/>
            <p:cNvSpPr/>
            <p:nvPr/>
          </p:nvSpPr>
          <p:spPr>
            <a:xfrm>
              <a:off x="13484" y="14041"/>
              <a:ext cx="2568427" cy="2674453"/>
            </a:xfrm>
            <a:custGeom>
              <a:avLst/>
              <a:gdLst/>
              <a:ahLst/>
              <a:cxnLst/>
              <a:rect l="l" t="t" r="r" b="b"/>
              <a:pathLst>
                <a:path w="2568427" h="2674453">
                  <a:moveTo>
                    <a:pt x="0" y="1337226"/>
                  </a:moveTo>
                  <a:cubicBezTo>
                    <a:pt x="0" y="598691"/>
                    <a:pt x="574957" y="0"/>
                    <a:pt x="1284214" y="0"/>
                  </a:cubicBezTo>
                  <a:cubicBezTo>
                    <a:pt x="1993471" y="0"/>
                    <a:pt x="2568427" y="598691"/>
                    <a:pt x="2568427" y="1337226"/>
                  </a:cubicBezTo>
                  <a:cubicBezTo>
                    <a:pt x="2568427" y="2075761"/>
                    <a:pt x="1993471" y="2674453"/>
                    <a:pt x="1284214" y="2674453"/>
                  </a:cubicBezTo>
                  <a:cubicBezTo>
                    <a:pt x="574957" y="2674453"/>
                    <a:pt x="0" y="2075902"/>
                    <a:pt x="0" y="1337226"/>
                  </a:cubicBezTo>
                  <a:close/>
                </a:path>
              </a:pathLst>
            </a:custGeom>
            <a:solidFill>
              <a:srgbClr val="EEEEEE"/>
            </a:solidFill>
          </p:spPr>
        </p:sp>
        <p:sp>
          <p:nvSpPr>
            <p:cNvPr id="7" name="Freeform 7"/>
            <p:cNvSpPr/>
            <p:nvPr/>
          </p:nvSpPr>
          <p:spPr>
            <a:xfrm>
              <a:off x="0" y="0"/>
              <a:ext cx="2595395" cy="2702534"/>
            </a:xfrm>
            <a:custGeom>
              <a:avLst/>
              <a:gdLst/>
              <a:ahLst/>
              <a:cxnLst/>
              <a:rect l="l" t="t" r="r" b="b"/>
              <a:pathLst>
                <a:path w="2595395" h="2702534">
                  <a:moveTo>
                    <a:pt x="0" y="1351267"/>
                  </a:moveTo>
                  <a:cubicBezTo>
                    <a:pt x="0" y="605009"/>
                    <a:pt x="581024" y="0"/>
                    <a:pt x="1297698" y="0"/>
                  </a:cubicBezTo>
                  <a:lnTo>
                    <a:pt x="1297698" y="14041"/>
                  </a:lnTo>
                  <a:lnTo>
                    <a:pt x="1297698" y="0"/>
                  </a:lnTo>
                  <a:cubicBezTo>
                    <a:pt x="2014371" y="0"/>
                    <a:pt x="2595395" y="605009"/>
                    <a:pt x="2595395" y="1351267"/>
                  </a:cubicBezTo>
                  <a:lnTo>
                    <a:pt x="2581911" y="1351267"/>
                  </a:lnTo>
                  <a:lnTo>
                    <a:pt x="2595395" y="1351267"/>
                  </a:lnTo>
                  <a:cubicBezTo>
                    <a:pt x="2595395" y="2097525"/>
                    <a:pt x="2014371" y="2702534"/>
                    <a:pt x="1297698" y="2702534"/>
                  </a:cubicBezTo>
                  <a:lnTo>
                    <a:pt x="1297698" y="2688494"/>
                  </a:lnTo>
                  <a:lnTo>
                    <a:pt x="1297698" y="2702534"/>
                  </a:lnTo>
                  <a:cubicBezTo>
                    <a:pt x="581024" y="2702672"/>
                    <a:pt x="0" y="2097665"/>
                    <a:pt x="0" y="1351267"/>
                  </a:cubicBezTo>
                  <a:lnTo>
                    <a:pt x="13484" y="1351267"/>
                  </a:lnTo>
                  <a:lnTo>
                    <a:pt x="26968" y="1351267"/>
                  </a:lnTo>
                  <a:lnTo>
                    <a:pt x="13484" y="1351267"/>
                  </a:lnTo>
                  <a:lnTo>
                    <a:pt x="0" y="1351267"/>
                  </a:lnTo>
                  <a:moveTo>
                    <a:pt x="26968" y="1351267"/>
                  </a:moveTo>
                  <a:cubicBezTo>
                    <a:pt x="26968" y="1358989"/>
                    <a:pt x="20900" y="1365308"/>
                    <a:pt x="13484" y="1365308"/>
                  </a:cubicBezTo>
                  <a:cubicBezTo>
                    <a:pt x="6068" y="1365308"/>
                    <a:pt x="0" y="1358989"/>
                    <a:pt x="0" y="1351267"/>
                  </a:cubicBezTo>
                  <a:cubicBezTo>
                    <a:pt x="0" y="1343545"/>
                    <a:pt x="6068" y="1337227"/>
                    <a:pt x="13484" y="1337227"/>
                  </a:cubicBezTo>
                  <a:cubicBezTo>
                    <a:pt x="20900" y="1337227"/>
                    <a:pt x="26968" y="1343545"/>
                    <a:pt x="26968" y="1351267"/>
                  </a:cubicBezTo>
                  <a:cubicBezTo>
                    <a:pt x="26968" y="2082080"/>
                    <a:pt x="595857" y="2674453"/>
                    <a:pt x="1297698" y="2674453"/>
                  </a:cubicBezTo>
                  <a:cubicBezTo>
                    <a:pt x="1999538" y="2674453"/>
                    <a:pt x="2568427" y="2082080"/>
                    <a:pt x="2568427" y="1351267"/>
                  </a:cubicBezTo>
                  <a:cubicBezTo>
                    <a:pt x="2568427" y="620454"/>
                    <a:pt x="1999538" y="28081"/>
                    <a:pt x="1297698" y="28081"/>
                  </a:cubicBezTo>
                  <a:lnTo>
                    <a:pt x="1297698" y="14041"/>
                  </a:lnTo>
                  <a:lnTo>
                    <a:pt x="1297698" y="28081"/>
                  </a:lnTo>
                  <a:cubicBezTo>
                    <a:pt x="595857" y="28081"/>
                    <a:pt x="26968" y="620454"/>
                    <a:pt x="26968" y="1351267"/>
                  </a:cubicBezTo>
                  <a:close/>
                </a:path>
              </a:pathLst>
            </a:custGeom>
            <a:solidFill>
              <a:srgbClr val="595959"/>
            </a:solidFill>
          </p:spPr>
        </p:sp>
        <p:sp>
          <p:nvSpPr>
            <p:cNvPr id="8" name="TextBox 8"/>
            <p:cNvSpPr txBox="1"/>
            <p:nvPr/>
          </p:nvSpPr>
          <p:spPr>
            <a:xfrm>
              <a:off x="0" y="-38100"/>
              <a:ext cx="2595506" cy="2740749"/>
            </a:xfrm>
            <a:prstGeom prst="rect">
              <a:avLst/>
            </a:prstGeom>
          </p:spPr>
          <p:txBody>
            <a:bodyPr lIns="21318" tIns="21318" rIns="21318" bIns="21318" rtlCol="0" anchor="ctr"/>
            <a:lstStyle/>
            <a:p>
              <a:pPr algn="ctr">
                <a:lnSpc>
                  <a:spcPts val="2014"/>
                </a:lnSpc>
              </a:pPr>
              <a:r>
                <a:rPr lang="en-US" sz="1678">
                  <a:solidFill>
                    <a:srgbClr val="000000"/>
                  </a:solidFill>
                  <a:latin typeface="Times New Roman MT"/>
                  <a:ea typeface="Times New Roman MT"/>
                  <a:cs typeface="Times New Roman MT"/>
                  <a:sym typeface="Times New Roman MT"/>
                </a:rPr>
                <a:t>15</a:t>
              </a:r>
            </a:p>
          </p:txBody>
        </p:sp>
      </p:grpSp>
      <p:grpSp>
        <p:nvGrpSpPr>
          <p:cNvPr id="9" name="Group 9"/>
          <p:cNvGrpSpPr/>
          <p:nvPr/>
        </p:nvGrpSpPr>
        <p:grpSpPr>
          <a:xfrm>
            <a:off x="214958" y="287487"/>
            <a:ext cx="8520600" cy="684149"/>
            <a:chOff x="0" y="0"/>
            <a:chExt cx="22721600" cy="1824397"/>
          </a:xfrm>
        </p:grpSpPr>
        <p:sp>
          <p:nvSpPr>
            <p:cNvPr id="10" name="Freeform 10"/>
            <p:cNvSpPr/>
            <p:nvPr/>
          </p:nvSpPr>
          <p:spPr>
            <a:xfrm>
              <a:off x="0" y="0"/>
              <a:ext cx="22721601" cy="1824397"/>
            </a:xfrm>
            <a:custGeom>
              <a:avLst/>
              <a:gdLst/>
              <a:ahLst/>
              <a:cxnLst/>
              <a:rect l="l" t="t" r="r" b="b"/>
              <a:pathLst>
                <a:path w="22721601" h="1824397">
                  <a:moveTo>
                    <a:pt x="0" y="0"/>
                  </a:moveTo>
                  <a:lnTo>
                    <a:pt x="22721601" y="0"/>
                  </a:lnTo>
                  <a:lnTo>
                    <a:pt x="22721601" y="1824397"/>
                  </a:lnTo>
                  <a:lnTo>
                    <a:pt x="0" y="1824397"/>
                  </a:lnTo>
                  <a:close/>
                </a:path>
              </a:pathLst>
            </a:custGeom>
          </p:spPr>
        </p:sp>
        <p:sp>
          <p:nvSpPr>
            <p:cNvPr id="11" name="TextBox 11"/>
            <p:cNvSpPr txBox="1"/>
            <p:nvPr/>
          </p:nvSpPr>
          <p:spPr>
            <a:xfrm>
              <a:off x="0" y="-76200"/>
              <a:ext cx="22721600" cy="1900597"/>
            </a:xfrm>
            <a:prstGeom prst="rect">
              <a:avLst/>
            </a:prstGeom>
          </p:spPr>
          <p:txBody>
            <a:bodyPr lIns="0" tIns="0" rIns="0" bIns="0" rtlCol="0" anchor="t"/>
            <a:lstStyle/>
            <a:p>
              <a:pPr algn="ctr">
                <a:lnSpc>
                  <a:spcPts val="4439"/>
                </a:lnSpc>
              </a:pPr>
              <a:r>
                <a:rPr lang="en-US" sz="3699">
                  <a:solidFill>
                    <a:srgbClr val="000000"/>
                  </a:solidFill>
                  <a:latin typeface="Arial MT Pro"/>
                  <a:ea typeface="Arial MT Pro"/>
                  <a:cs typeface="Arial MT Pro"/>
                  <a:sym typeface="Arial MT Pro"/>
                </a:rPr>
                <a:t>Literature Review</a:t>
              </a:r>
            </a:p>
          </p:txBody>
        </p:sp>
      </p:grpSp>
      <p:sp>
        <p:nvSpPr>
          <p:cNvPr id="12" name="TextBox 12"/>
          <p:cNvSpPr txBox="1"/>
          <p:nvPr/>
        </p:nvSpPr>
        <p:spPr>
          <a:xfrm>
            <a:off x="1773622" y="-2889"/>
            <a:ext cx="5596756" cy="230832"/>
          </a:xfrm>
          <a:prstGeom prst="rect">
            <a:avLst/>
          </a:prstGeom>
        </p:spPr>
        <p:txBody>
          <a:bodyPr wrap="square" lIns="0" tIns="0" rIns="0" bIns="0" rtlCol="0" anchor="t">
            <a:spAutoFit/>
          </a:bodyPr>
          <a:lstStyle/>
          <a:p>
            <a:pPr algn="ctr">
              <a:lnSpc>
                <a:spcPts val="1800"/>
              </a:lnSpc>
              <a:spcBef>
                <a:spcPct val="0"/>
              </a:spcBef>
            </a:pPr>
            <a:r>
              <a:rPr lang="en-US" sz="1500" dirty="0">
                <a:solidFill>
                  <a:srgbClr val="000000"/>
                </a:solidFill>
                <a:latin typeface="Times New Roman MT"/>
                <a:ea typeface="Times New Roman MT"/>
                <a:cs typeface="Times New Roman MT"/>
                <a:sym typeface="Times New Roman MT"/>
              </a:rPr>
              <a:t>B.E.(I.T.) / Sem VIII / MAJOR PROJECT II-2025-26</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8918207" y="4898657"/>
            <a:ext cx="152400" cy="171450"/>
          </a:xfrm>
          <a:prstGeom prst="rect">
            <a:avLst/>
          </a:prstGeom>
        </p:spPr>
        <p:txBody>
          <a:bodyPr wrap="none" lIns="0" tIns="0" rIns="0" bIns="0" rtlCol="0" anchor="t">
            <a:spAutoFit/>
          </a:bodyPr>
          <a:lstStyle/>
          <a:p>
            <a:pPr algn="ctr">
              <a:lnSpc>
                <a:spcPts val="1540"/>
              </a:lnSpc>
              <a:spcBef>
                <a:spcPct val="0"/>
              </a:spcBef>
            </a:pPr>
            <a:r>
              <a:rPr lang="en-US" sz="1100">
                <a:solidFill>
                  <a:srgbClr val="000000"/>
                </a:solidFill>
                <a:latin typeface="Canva Sans"/>
                <a:ea typeface="Canva Sans"/>
                <a:cs typeface="Canva Sans"/>
                <a:sym typeface="Canva Sans"/>
              </a:rPr>
              <a:t>6</a:t>
            </a:r>
          </a:p>
        </p:txBody>
      </p:sp>
      <p:sp>
        <p:nvSpPr>
          <p:cNvPr id="3" name="Freeform 3"/>
          <p:cNvSpPr/>
          <p:nvPr/>
        </p:nvSpPr>
        <p:spPr>
          <a:xfrm>
            <a:off x="28379" y="26460"/>
            <a:ext cx="971943" cy="1013493"/>
          </a:xfrm>
          <a:custGeom>
            <a:avLst/>
            <a:gdLst/>
            <a:ahLst/>
            <a:cxnLst/>
            <a:rect l="l" t="t" r="r" b="b"/>
            <a:pathLst>
              <a:path w="971943" h="1013493">
                <a:moveTo>
                  <a:pt x="0" y="0"/>
                </a:moveTo>
                <a:lnTo>
                  <a:pt x="971942" y="0"/>
                </a:lnTo>
                <a:lnTo>
                  <a:pt x="971942" y="1013493"/>
                </a:lnTo>
                <a:lnTo>
                  <a:pt x="0" y="1013493"/>
                </a:lnTo>
                <a:lnTo>
                  <a:pt x="0" y="0"/>
                </a:lnTo>
                <a:close/>
              </a:path>
            </a:pathLst>
          </a:custGeom>
          <a:blipFill>
            <a:blip r:embed="rId2"/>
            <a:stretch>
              <a:fillRect l="-2670" t="-1023" r="-2670"/>
            </a:stretch>
          </a:blipFill>
        </p:spPr>
      </p:sp>
      <p:grpSp>
        <p:nvGrpSpPr>
          <p:cNvPr id="4" name="Group 4"/>
          <p:cNvGrpSpPr/>
          <p:nvPr/>
        </p:nvGrpSpPr>
        <p:grpSpPr>
          <a:xfrm>
            <a:off x="8327115" y="25155"/>
            <a:ext cx="816885" cy="850606"/>
            <a:chOff x="0" y="0"/>
            <a:chExt cx="2595506" cy="2702649"/>
          </a:xfrm>
        </p:grpSpPr>
        <p:sp>
          <p:nvSpPr>
            <p:cNvPr id="5" name="Freeform 5"/>
            <p:cNvSpPr/>
            <p:nvPr/>
          </p:nvSpPr>
          <p:spPr>
            <a:xfrm>
              <a:off x="13484" y="14041"/>
              <a:ext cx="2568427" cy="2674453"/>
            </a:xfrm>
            <a:custGeom>
              <a:avLst/>
              <a:gdLst/>
              <a:ahLst/>
              <a:cxnLst/>
              <a:rect l="l" t="t" r="r" b="b"/>
              <a:pathLst>
                <a:path w="2568427" h="2674453">
                  <a:moveTo>
                    <a:pt x="0" y="1337226"/>
                  </a:moveTo>
                  <a:cubicBezTo>
                    <a:pt x="0" y="598691"/>
                    <a:pt x="574957" y="0"/>
                    <a:pt x="1284214" y="0"/>
                  </a:cubicBezTo>
                  <a:cubicBezTo>
                    <a:pt x="1993471" y="0"/>
                    <a:pt x="2568427" y="598691"/>
                    <a:pt x="2568427" y="1337226"/>
                  </a:cubicBezTo>
                  <a:cubicBezTo>
                    <a:pt x="2568427" y="2075761"/>
                    <a:pt x="1993471" y="2674453"/>
                    <a:pt x="1284214" y="2674453"/>
                  </a:cubicBezTo>
                  <a:cubicBezTo>
                    <a:pt x="574957" y="2674453"/>
                    <a:pt x="0" y="2075902"/>
                    <a:pt x="0" y="1337226"/>
                  </a:cubicBezTo>
                  <a:close/>
                </a:path>
              </a:pathLst>
            </a:custGeom>
            <a:solidFill>
              <a:srgbClr val="EEEEEE"/>
            </a:solidFill>
          </p:spPr>
        </p:sp>
        <p:sp>
          <p:nvSpPr>
            <p:cNvPr id="6" name="Freeform 6"/>
            <p:cNvSpPr/>
            <p:nvPr/>
          </p:nvSpPr>
          <p:spPr>
            <a:xfrm>
              <a:off x="0" y="0"/>
              <a:ext cx="2595395" cy="2702534"/>
            </a:xfrm>
            <a:custGeom>
              <a:avLst/>
              <a:gdLst/>
              <a:ahLst/>
              <a:cxnLst/>
              <a:rect l="l" t="t" r="r" b="b"/>
              <a:pathLst>
                <a:path w="2595395" h="2702534">
                  <a:moveTo>
                    <a:pt x="0" y="1351267"/>
                  </a:moveTo>
                  <a:cubicBezTo>
                    <a:pt x="0" y="605009"/>
                    <a:pt x="581024" y="0"/>
                    <a:pt x="1297698" y="0"/>
                  </a:cubicBezTo>
                  <a:lnTo>
                    <a:pt x="1297698" y="14041"/>
                  </a:lnTo>
                  <a:lnTo>
                    <a:pt x="1297698" y="0"/>
                  </a:lnTo>
                  <a:cubicBezTo>
                    <a:pt x="2014371" y="0"/>
                    <a:pt x="2595395" y="605009"/>
                    <a:pt x="2595395" y="1351267"/>
                  </a:cubicBezTo>
                  <a:lnTo>
                    <a:pt x="2581911" y="1351267"/>
                  </a:lnTo>
                  <a:lnTo>
                    <a:pt x="2595395" y="1351267"/>
                  </a:lnTo>
                  <a:cubicBezTo>
                    <a:pt x="2595395" y="2097525"/>
                    <a:pt x="2014371" y="2702534"/>
                    <a:pt x="1297698" y="2702534"/>
                  </a:cubicBezTo>
                  <a:lnTo>
                    <a:pt x="1297698" y="2688494"/>
                  </a:lnTo>
                  <a:lnTo>
                    <a:pt x="1297698" y="2702534"/>
                  </a:lnTo>
                  <a:cubicBezTo>
                    <a:pt x="581024" y="2702672"/>
                    <a:pt x="0" y="2097665"/>
                    <a:pt x="0" y="1351267"/>
                  </a:cubicBezTo>
                  <a:lnTo>
                    <a:pt x="13484" y="1351267"/>
                  </a:lnTo>
                  <a:lnTo>
                    <a:pt x="26968" y="1351267"/>
                  </a:lnTo>
                  <a:lnTo>
                    <a:pt x="13484" y="1351267"/>
                  </a:lnTo>
                  <a:lnTo>
                    <a:pt x="0" y="1351267"/>
                  </a:lnTo>
                  <a:moveTo>
                    <a:pt x="26968" y="1351267"/>
                  </a:moveTo>
                  <a:cubicBezTo>
                    <a:pt x="26968" y="1358989"/>
                    <a:pt x="20900" y="1365308"/>
                    <a:pt x="13484" y="1365308"/>
                  </a:cubicBezTo>
                  <a:cubicBezTo>
                    <a:pt x="6068" y="1365308"/>
                    <a:pt x="0" y="1358989"/>
                    <a:pt x="0" y="1351267"/>
                  </a:cubicBezTo>
                  <a:cubicBezTo>
                    <a:pt x="0" y="1343545"/>
                    <a:pt x="6068" y="1337227"/>
                    <a:pt x="13484" y="1337227"/>
                  </a:cubicBezTo>
                  <a:cubicBezTo>
                    <a:pt x="20900" y="1337227"/>
                    <a:pt x="26968" y="1343545"/>
                    <a:pt x="26968" y="1351267"/>
                  </a:cubicBezTo>
                  <a:cubicBezTo>
                    <a:pt x="26968" y="2082080"/>
                    <a:pt x="595857" y="2674453"/>
                    <a:pt x="1297698" y="2674453"/>
                  </a:cubicBezTo>
                  <a:cubicBezTo>
                    <a:pt x="1999538" y="2674453"/>
                    <a:pt x="2568427" y="2082080"/>
                    <a:pt x="2568427" y="1351267"/>
                  </a:cubicBezTo>
                  <a:cubicBezTo>
                    <a:pt x="2568427" y="620454"/>
                    <a:pt x="1999538" y="28081"/>
                    <a:pt x="1297698" y="28081"/>
                  </a:cubicBezTo>
                  <a:lnTo>
                    <a:pt x="1297698" y="14041"/>
                  </a:lnTo>
                  <a:lnTo>
                    <a:pt x="1297698" y="28081"/>
                  </a:lnTo>
                  <a:cubicBezTo>
                    <a:pt x="595857" y="28081"/>
                    <a:pt x="26968" y="620454"/>
                    <a:pt x="26968" y="1351267"/>
                  </a:cubicBezTo>
                  <a:close/>
                </a:path>
              </a:pathLst>
            </a:custGeom>
            <a:solidFill>
              <a:srgbClr val="595959"/>
            </a:solidFill>
          </p:spPr>
        </p:sp>
        <p:sp>
          <p:nvSpPr>
            <p:cNvPr id="7" name="TextBox 7"/>
            <p:cNvSpPr txBox="1"/>
            <p:nvPr/>
          </p:nvSpPr>
          <p:spPr>
            <a:xfrm>
              <a:off x="0" y="-38100"/>
              <a:ext cx="2595506" cy="2740749"/>
            </a:xfrm>
            <a:prstGeom prst="rect">
              <a:avLst/>
            </a:prstGeom>
          </p:spPr>
          <p:txBody>
            <a:bodyPr lIns="21318" tIns="21318" rIns="21318" bIns="21318" rtlCol="0" anchor="ctr"/>
            <a:lstStyle/>
            <a:p>
              <a:pPr algn="ctr">
                <a:lnSpc>
                  <a:spcPts val="2014"/>
                </a:lnSpc>
              </a:pPr>
              <a:r>
                <a:rPr lang="en-US" sz="1678">
                  <a:solidFill>
                    <a:srgbClr val="000000"/>
                  </a:solidFill>
                  <a:latin typeface="Times New Roman MT"/>
                  <a:ea typeface="Times New Roman MT"/>
                  <a:cs typeface="Times New Roman MT"/>
                  <a:sym typeface="Times New Roman MT"/>
                </a:rPr>
                <a:t>15</a:t>
              </a:r>
            </a:p>
          </p:txBody>
        </p:sp>
      </p:grpSp>
      <p:grpSp>
        <p:nvGrpSpPr>
          <p:cNvPr id="8" name="Group 8"/>
          <p:cNvGrpSpPr/>
          <p:nvPr/>
        </p:nvGrpSpPr>
        <p:grpSpPr>
          <a:xfrm>
            <a:off x="214958" y="355804"/>
            <a:ext cx="8520600" cy="684149"/>
            <a:chOff x="0" y="0"/>
            <a:chExt cx="22721600" cy="1824397"/>
          </a:xfrm>
        </p:grpSpPr>
        <p:sp>
          <p:nvSpPr>
            <p:cNvPr id="9" name="Freeform 9"/>
            <p:cNvSpPr/>
            <p:nvPr/>
          </p:nvSpPr>
          <p:spPr>
            <a:xfrm>
              <a:off x="0" y="0"/>
              <a:ext cx="22721601" cy="1824397"/>
            </a:xfrm>
            <a:custGeom>
              <a:avLst/>
              <a:gdLst/>
              <a:ahLst/>
              <a:cxnLst/>
              <a:rect l="l" t="t" r="r" b="b"/>
              <a:pathLst>
                <a:path w="22721601" h="1824397">
                  <a:moveTo>
                    <a:pt x="0" y="0"/>
                  </a:moveTo>
                  <a:lnTo>
                    <a:pt x="22721601" y="0"/>
                  </a:lnTo>
                  <a:lnTo>
                    <a:pt x="22721601" y="1824397"/>
                  </a:lnTo>
                  <a:lnTo>
                    <a:pt x="0" y="1824397"/>
                  </a:lnTo>
                  <a:close/>
                </a:path>
              </a:pathLst>
            </a:custGeom>
          </p:spPr>
        </p:sp>
        <p:sp>
          <p:nvSpPr>
            <p:cNvPr id="10" name="TextBox 10"/>
            <p:cNvSpPr txBox="1"/>
            <p:nvPr/>
          </p:nvSpPr>
          <p:spPr>
            <a:xfrm>
              <a:off x="0" y="-76200"/>
              <a:ext cx="22721600" cy="1900597"/>
            </a:xfrm>
            <a:prstGeom prst="rect">
              <a:avLst/>
            </a:prstGeom>
          </p:spPr>
          <p:txBody>
            <a:bodyPr lIns="0" tIns="0" rIns="0" bIns="0" rtlCol="0" anchor="t"/>
            <a:lstStyle/>
            <a:p>
              <a:pPr algn="ctr">
                <a:lnSpc>
                  <a:spcPts val="4439"/>
                </a:lnSpc>
              </a:pPr>
              <a:r>
                <a:rPr lang="en-US" sz="3699">
                  <a:solidFill>
                    <a:srgbClr val="000000"/>
                  </a:solidFill>
                  <a:latin typeface="Arial MT Pro"/>
                  <a:ea typeface="Arial MT Pro"/>
                  <a:cs typeface="Arial MT Pro"/>
                  <a:sym typeface="Arial MT Pro"/>
                </a:rPr>
                <a:t>Literature Review</a:t>
              </a:r>
            </a:p>
          </p:txBody>
        </p:sp>
      </p:grpSp>
      <p:sp>
        <p:nvSpPr>
          <p:cNvPr id="11" name="TextBox 11"/>
          <p:cNvSpPr txBox="1"/>
          <p:nvPr/>
        </p:nvSpPr>
        <p:spPr>
          <a:xfrm>
            <a:off x="2236663" y="96720"/>
            <a:ext cx="5132338" cy="230832"/>
          </a:xfrm>
          <a:prstGeom prst="rect">
            <a:avLst/>
          </a:prstGeom>
        </p:spPr>
        <p:txBody>
          <a:bodyPr lIns="0" tIns="0" rIns="0" bIns="0" rtlCol="0" anchor="t">
            <a:spAutoFit/>
          </a:bodyPr>
          <a:lstStyle/>
          <a:p>
            <a:pPr algn="ctr">
              <a:lnSpc>
                <a:spcPts val="1800"/>
              </a:lnSpc>
              <a:spcBef>
                <a:spcPct val="0"/>
              </a:spcBef>
            </a:pPr>
            <a:r>
              <a:rPr lang="en-US" sz="1500" dirty="0">
                <a:solidFill>
                  <a:srgbClr val="000000"/>
                </a:solidFill>
                <a:latin typeface="Times New Roman MT"/>
                <a:ea typeface="Times New Roman MT"/>
                <a:cs typeface="Times New Roman MT"/>
                <a:sym typeface="Times New Roman MT"/>
              </a:rPr>
              <a:t>B.E.(I.T.) / Sem VIII / MAJOR PROJECT II-2025-26</a:t>
            </a:r>
          </a:p>
        </p:txBody>
      </p:sp>
      <p:graphicFrame>
        <p:nvGraphicFramePr>
          <p:cNvPr id="12" name="Table 12"/>
          <p:cNvGraphicFramePr>
            <a:graphicFrameLocks noGrp="1"/>
          </p:cNvGraphicFramePr>
          <p:nvPr/>
        </p:nvGraphicFramePr>
        <p:xfrm>
          <a:off x="214958" y="1039953"/>
          <a:ext cx="9200757" cy="4274093"/>
        </p:xfrm>
        <a:graphic>
          <a:graphicData uri="http://schemas.openxmlformats.org/drawingml/2006/table">
            <a:tbl>
              <a:tblPr/>
              <a:tblGrid>
                <a:gridCol w="2060996">
                  <a:extLst>
                    <a:ext uri="{9D8B030D-6E8A-4147-A177-3AD203B41FA5}">
                      <a16:colId xmlns:a16="http://schemas.microsoft.com/office/drawing/2014/main" val="20000"/>
                    </a:ext>
                  </a:extLst>
                </a:gridCol>
                <a:gridCol w="3065964">
                  <a:extLst>
                    <a:ext uri="{9D8B030D-6E8A-4147-A177-3AD203B41FA5}">
                      <a16:colId xmlns:a16="http://schemas.microsoft.com/office/drawing/2014/main" val="20001"/>
                    </a:ext>
                  </a:extLst>
                </a:gridCol>
                <a:gridCol w="4073797">
                  <a:extLst>
                    <a:ext uri="{9D8B030D-6E8A-4147-A177-3AD203B41FA5}">
                      <a16:colId xmlns:a16="http://schemas.microsoft.com/office/drawing/2014/main" val="20002"/>
                    </a:ext>
                  </a:extLst>
                </a:gridCol>
              </a:tblGrid>
              <a:tr h="559446">
                <a:tc>
                  <a:txBody>
                    <a:bodyPr/>
                    <a:lstStyle/>
                    <a:p>
                      <a:pPr algn="ctr">
                        <a:lnSpc>
                          <a:spcPts val="1680"/>
                        </a:lnSpc>
                        <a:defRPr/>
                      </a:pPr>
                      <a:r>
                        <a:rPr lang="en-US" sz="1400">
                          <a:solidFill>
                            <a:srgbClr val="000000"/>
                          </a:solidFill>
                          <a:latin typeface="Arial MT Pro"/>
                          <a:ea typeface="Arial MT Pro"/>
                          <a:cs typeface="Arial MT Pro"/>
                          <a:sym typeface="Arial MT Pro"/>
                        </a:rPr>
                        <a:t>Core</a:t>
                      </a:r>
                      <a:endParaRPr lang="en-US" sz="1100"/>
                    </a:p>
                  </a:txBody>
                  <a:tcPr marL="45713" marR="45713" marT="45713" marB="45713" anchor="ctr">
                    <a:lnL w="2381" cap="flat" cmpd="sng" algn="ctr">
                      <a:solidFill>
                        <a:srgbClr val="000000"/>
                      </a:solidFill>
                      <a:prstDash val="solid"/>
                      <a:round/>
                      <a:headEnd type="none" w="med" len="med"/>
                      <a:tailEnd type="none" w="med" len="med"/>
                    </a:lnL>
                    <a:lnR w="2381" cap="flat" cmpd="sng" algn="ctr">
                      <a:solidFill>
                        <a:srgbClr val="000000"/>
                      </a:solidFill>
                      <a:prstDash val="solid"/>
                      <a:round/>
                      <a:headEnd type="none" w="med" len="med"/>
                      <a:tailEnd type="none" w="med" len="med"/>
                    </a:lnR>
                    <a:lnT w="2381" cap="flat" cmpd="sng" algn="ctr">
                      <a:solidFill>
                        <a:srgbClr val="000000"/>
                      </a:solidFill>
                      <a:prstDash val="solid"/>
                      <a:round/>
                      <a:headEnd type="none" w="med" len="med"/>
                      <a:tailEnd type="none" w="med" len="med"/>
                    </a:lnT>
                    <a:lnB w="2381" cap="flat" cmpd="sng" algn="ctr">
                      <a:solidFill>
                        <a:srgbClr val="000000"/>
                      </a:solidFill>
                      <a:prstDash val="solid"/>
                      <a:round/>
                      <a:headEnd type="none" w="med" len="med"/>
                      <a:tailEnd type="none" w="med" len="med"/>
                    </a:lnB>
                  </a:tcPr>
                </a:tc>
                <a:tc>
                  <a:txBody>
                    <a:bodyPr/>
                    <a:lstStyle/>
                    <a:p>
                      <a:pPr algn="ctr">
                        <a:lnSpc>
                          <a:spcPts val="1680"/>
                        </a:lnSpc>
                        <a:defRPr/>
                      </a:pPr>
                      <a:r>
                        <a:rPr lang="en-US" sz="1400">
                          <a:solidFill>
                            <a:srgbClr val="000000"/>
                          </a:solidFill>
                          <a:latin typeface="Arial MT Pro"/>
                          <a:ea typeface="Arial MT Pro"/>
                          <a:cs typeface="Arial MT Pro"/>
                          <a:sym typeface="Arial MT Pro"/>
                        </a:rPr>
                        <a:t>Findings / Techniques </a:t>
                      </a:r>
                      <a:endParaRPr lang="en-US" sz="1100"/>
                    </a:p>
                  </a:txBody>
                  <a:tcPr marL="45713" marR="45713" marT="45713" marB="45713" anchor="ctr">
                    <a:lnL w="2381" cap="flat" cmpd="sng" algn="ctr">
                      <a:solidFill>
                        <a:srgbClr val="000000"/>
                      </a:solidFill>
                      <a:prstDash val="solid"/>
                      <a:round/>
                      <a:headEnd type="none" w="med" len="med"/>
                      <a:tailEnd type="none" w="med" len="med"/>
                    </a:lnL>
                    <a:lnR w="2381" cap="flat" cmpd="sng" algn="ctr">
                      <a:solidFill>
                        <a:srgbClr val="000000"/>
                      </a:solidFill>
                      <a:prstDash val="solid"/>
                      <a:round/>
                      <a:headEnd type="none" w="med" len="med"/>
                      <a:tailEnd type="none" w="med" len="med"/>
                    </a:lnR>
                    <a:lnT w="2381" cap="flat" cmpd="sng" algn="ctr">
                      <a:solidFill>
                        <a:srgbClr val="000000"/>
                      </a:solidFill>
                      <a:prstDash val="solid"/>
                      <a:round/>
                      <a:headEnd type="none" w="med" len="med"/>
                      <a:tailEnd type="none" w="med" len="med"/>
                    </a:lnT>
                    <a:lnB w="2381" cap="flat" cmpd="sng" algn="ctr">
                      <a:solidFill>
                        <a:srgbClr val="000000"/>
                      </a:solidFill>
                      <a:prstDash val="solid"/>
                      <a:round/>
                      <a:headEnd type="none" w="med" len="med"/>
                      <a:tailEnd type="none" w="med" len="med"/>
                    </a:lnB>
                  </a:tcPr>
                </a:tc>
                <a:tc>
                  <a:txBody>
                    <a:bodyPr/>
                    <a:lstStyle/>
                    <a:p>
                      <a:pPr algn="ctr">
                        <a:lnSpc>
                          <a:spcPts val="1680"/>
                        </a:lnSpc>
                        <a:defRPr/>
                      </a:pPr>
                      <a:r>
                        <a:rPr lang="en-US" sz="1400">
                          <a:solidFill>
                            <a:srgbClr val="000000"/>
                          </a:solidFill>
                          <a:latin typeface="Arial MT Pro"/>
                          <a:ea typeface="Arial MT Pro"/>
                          <a:cs typeface="Arial MT Pro"/>
                          <a:sym typeface="Arial MT Pro"/>
                        </a:rPr>
                        <a:t>Identified Gap</a:t>
                      </a:r>
                      <a:endParaRPr lang="en-US" sz="1100"/>
                    </a:p>
                  </a:txBody>
                  <a:tcPr marL="45713" marR="45713" marT="45713" marB="45713" anchor="ctr">
                    <a:lnL w="2381" cap="flat" cmpd="sng" algn="ctr">
                      <a:solidFill>
                        <a:srgbClr val="000000"/>
                      </a:solidFill>
                      <a:prstDash val="solid"/>
                      <a:round/>
                      <a:headEnd type="none" w="med" len="med"/>
                      <a:tailEnd type="none" w="med" len="med"/>
                    </a:lnL>
                    <a:lnR w="2381" cap="flat" cmpd="sng" algn="ctr">
                      <a:solidFill>
                        <a:srgbClr val="000000"/>
                      </a:solidFill>
                      <a:prstDash val="solid"/>
                      <a:round/>
                      <a:headEnd type="none" w="med" len="med"/>
                      <a:tailEnd type="none" w="med" len="med"/>
                    </a:lnR>
                    <a:lnT w="2381" cap="flat" cmpd="sng" algn="ctr">
                      <a:solidFill>
                        <a:srgbClr val="000000"/>
                      </a:solidFill>
                      <a:prstDash val="solid"/>
                      <a:round/>
                      <a:headEnd type="none" w="med" len="med"/>
                      <a:tailEnd type="none" w="med" len="med"/>
                    </a:lnT>
                    <a:lnB w="2381"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076197">
                <a:tc>
                  <a:txBody>
                    <a:bodyPr/>
                    <a:lstStyle/>
                    <a:p>
                      <a:pPr algn="l">
                        <a:lnSpc>
                          <a:spcPts val="1540"/>
                        </a:lnSpc>
                        <a:defRPr/>
                      </a:pPr>
                      <a:r>
                        <a:rPr lang="en-US" sz="1100">
                          <a:solidFill>
                            <a:srgbClr val="000000"/>
                          </a:solidFill>
                          <a:latin typeface="Arimo"/>
                          <a:ea typeface="Arimo"/>
                          <a:cs typeface="Arimo"/>
                          <a:sym typeface="Arimo"/>
                        </a:rPr>
                        <a:t>LLMs and Copyright Risks: Benchmarks and Mitigation[4]</a:t>
                      </a:r>
                      <a:endParaRPr lang="en-US" sz="1100"/>
                    </a:p>
                  </a:txBody>
                  <a:tcPr marL="45713" marR="45713" marT="45713" marB="45713">
                    <a:lnL w="2381" cap="flat" cmpd="sng" algn="ctr">
                      <a:solidFill>
                        <a:srgbClr val="000000"/>
                      </a:solidFill>
                      <a:prstDash val="solid"/>
                      <a:round/>
                      <a:headEnd type="none" w="med" len="med"/>
                      <a:tailEnd type="none" w="med" len="med"/>
                    </a:lnL>
                    <a:lnR w="2381" cap="flat" cmpd="sng" algn="ctr">
                      <a:solidFill>
                        <a:srgbClr val="000000"/>
                      </a:solidFill>
                      <a:prstDash val="solid"/>
                      <a:round/>
                      <a:headEnd type="none" w="med" len="med"/>
                      <a:tailEnd type="none" w="med" len="med"/>
                    </a:lnR>
                    <a:lnT w="2381" cap="flat" cmpd="sng" algn="ctr">
                      <a:solidFill>
                        <a:srgbClr val="000000"/>
                      </a:solidFill>
                      <a:prstDash val="solid"/>
                      <a:round/>
                      <a:headEnd type="none" w="med" len="med"/>
                      <a:tailEnd type="none" w="med" len="med"/>
                    </a:lnT>
                    <a:lnB w="2381" cap="flat" cmpd="sng" algn="ctr">
                      <a:solidFill>
                        <a:srgbClr val="000000"/>
                      </a:solidFill>
                      <a:prstDash val="solid"/>
                      <a:round/>
                      <a:headEnd type="none" w="med" len="med"/>
                      <a:tailEnd type="none" w="med" len="med"/>
                    </a:lnB>
                  </a:tcPr>
                </a:tc>
                <a:tc>
                  <a:txBody>
                    <a:bodyPr/>
                    <a:lstStyle/>
                    <a:p>
                      <a:pPr algn="l">
                        <a:lnSpc>
                          <a:spcPts val="1540"/>
                        </a:lnSpc>
                        <a:defRPr/>
                      </a:pPr>
                      <a:r>
                        <a:rPr lang="en-US" sz="1100">
                          <a:solidFill>
                            <a:srgbClr val="000000"/>
                          </a:solidFill>
                          <a:latin typeface="Arimo"/>
                          <a:ea typeface="Arimo"/>
                          <a:cs typeface="Arimo"/>
                          <a:sym typeface="Arimo"/>
                        </a:rPr>
                        <a:t>The paper evaluates detection, training, and mitigation strategies aimed at reducing copyright infringement risks in large language models.</a:t>
                      </a:r>
                      <a:endParaRPr lang="en-US" sz="1100"/>
                    </a:p>
                  </a:txBody>
                  <a:tcPr marL="45713" marR="45713" marT="45713" marB="45713">
                    <a:lnL w="2381" cap="flat" cmpd="sng" algn="ctr">
                      <a:solidFill>
                        <a:srgbClr val="000000"/>
                      </a:solidFill>
                      <a:prstDash val="solid"/>
                      <a:round/>
                      <a:headEnd type="none" w="med" len="med"/>
                      <a:tailEnd type="none" w="med" len="med"/>
                    </a:lnL>
                    <a:lnR w="4762" cap="flat" cmpd="sng" algn="ctr">
                      <a:solidFill>
                        <a:srgbClr val="000000"/>
                      </a:solidFill>
                      <a:prstDash val="solid"/>
                      <a:round/>
                      <a:headEnd type="none" w="med" len="med"/>
                      <a:tailEnd type="none" w="med" len="med"/>
                    </a:lnR>
                    <a:lnT w="2381" cap="flat" cmpd="sng" algn="ctr">
                      <a:solidFill>
                        <a:srgbClr val="000000"/>
                      </a:solidFill>
                      <a:prstDash val="solid"/>
                      <a:round/>
                      <a:headEnd type="none" w="med" len="med"/>
                      <a:tailEnd type="none" w="med" len="med"/>
                    </a:lnT>
                    <a:lnB w="4762" cap="flat" cmpd="sng" algn="ctr">
                      <a:solidFill>
                        <a:srgbClr val="000000"/>
                      </a:solidFill>
                      <a:prstDash val="solid"/>
                      <a:round/>
                      <a:headEnd type="none" w="med" len="med"/>
                      <a:tailEnd type="none" w="med" len="med"/>
                    </a:lnB>
                  </a:tcPr>
                </a:tc>
                <a:tc>
                  <a:txBody>
                    <a:bodyPr/>
                    <a:lstStyle/>
                    <a:p>
                      <a:pPr algn="l">
                        <a:lnSpc>
                          <a:spcPts val="1540"/>
                        </a:lnSpc>
                        <a:defRPr/>
                      </a:pPr>
                      <a:r>
                        <a:rPr lang="en-US" sz="1100">
                          <a:solidFill>
                            <a:srgbClr val="000000"/>
                          </a:solidFill>
                          <a:latin typeface="Arimo"/>
                          <a:ea typeface="Arimo"/>
                          <a:cs typeface="Arimo"/>
                          <a:sym typeface="Arimo"/>
                        </a:rPr>
                        <a:t>Future research needs to address how these mitigation strategies perform when scaling up the models, as well as investigate how large language models internalize copyrighted training data</a:t>
                      </a:r>
                      <a:endParaRPr lang="en-US" sz="1100"/>
                    </a:p>
                  </a:txBody>
                  <a:tcPr marL="45713" marR="45713" marT="45713" marB="45713">
                    <a:lnL w="4762" cap="flat" cmpd="sng" algn="ctr">
                      <a:solidFill>
                        <a:srgbClr val="000000"/>
                      </a:solidFill>
                      <a:prstDash val="solid"/>
                      <a:round/>
                      <a:headEnd type="none" w="med" len="med"/>
                      <a:tailEnd type="none" w="med" len="med"/>
                    </a:lnL>
                    <a:lnR w="2381" cap="flat" cmpd="sng" algn="ctr">
                      <a:solidFill>
                        <a:srgbClr val="000000"/>
                      </a:solidFill>
                      <a:prstDash val="solid"/>
                      <a:round/>
                      <a:headEnd type="none" w="med" len="med"/>
                      <a:tailEnd type="none" w="med" len="med"/>
                    </a:lnR>
                    <a:lnT w="2381" cap="flat" cmpd="sng" algn="ctr">
                      <a:solidFill>
                        <a:srgbClr val="000000"/>
                      </a:solidFill>
                      <a:prstDash val="solid"/>
                      <a:round/>
                      <a:headEnd type="none" w="med" len="med"/>
                      <a:tailEnd type="none" w="med" len="med"/>
                    </a:lnT>
                    <a:lnB w="2381"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86455">
                <a:tc>
                  <a:txBody>
                    <a:bodyPr/>
                    <a:lstStyle/>
                    <a:p>
                      <a:pPr algn="l">
                        <a:lnSpc>
                          <a:spcPts val="1540"/>
                        </a:lnSpc>
                        <a:defRPr/>
                      </a:pPr>
                      <a:r>
                        <a:rPr lang="en-US" sz="1100">
                          <a:solidFill>
                            <a:srgbClr val="000000"/>
                          </a:solidFill>
                          <a:latin typeface="Arimo"/>
                          <a:ea typeface="Arimo"/>
                          <a:cs typeface="Arimo"/>
                          <a:sym typeface="Arimo"/>
                        </a:rPr>
                        <a:t>Stylometry-based Fraud and Plagiarism Detection for Learning at Scale[1]</a:t>
                      </a:r>
                      <a:endParaRPr lang="en-US" sz="1100"/>
                    </a:p>
                  </a:txBody>
                  <a:tcPr marL="45713" marR="45713" marT="45713" marB="45713" anchor="ctr">
                    <a:lnL w="2381" cap="flat" cmpd="sng" algn="ctr">
                      <a:solidFill>
                        <a:srgbClr val="000000"/>
                      </a:solidFill>
                      <a:prstDash val="solid"/>
                      <a:round/>
                      <a:headEnd type="none" w="med" len="med"/>
                      <a:tailEnd type="none" w="med" len="med"/>
                    </a:lnL>
                    <a:lnR w="2381" cap="flat" cmpd="sng" algn="ctr">
                      <a:solidFill>
                        <a:srgbClr val="000000"/>
                      </a:solidFill>
                      <a:prstDash val="solid"/>
                      <a:round/>
                      <a:headEnd type="none" w="med" len="med"/>
                      <a:tailEnd type="none" w="med" len="med"/>
                    </a:lnR>
                    <a:lnT w="2381" cap="flat" cmpd="sng" algn="ctr">
                      <a:solidFill>
                        <a:srgbClr val="000000"/>
                      </a:solidFill>
                      <a:prstDash val="solid"/>
                      <a:round/>
                      <a:headEnd type="none" w="med" len="med"/>
                      <a:tailEnd type="none" w="med" len="med"/>
                    </a:lnT>
                    <a:lnB w="2381" cap="flat" cmpd="sng" algn="ctr">
                      <a:solidFill>
                        <a:srgbClr val="000000"/>
                      </a:solidFill>
                      <a:prstDash val="solid"/>
                      <a:round/>
                      <a:headEnd type="none" w="med" len="med"/>
                      <a:tailEnd type="none" w="med" len="med"/>
                    </a:lnB>
                  </a:tcPr>
                </a:tc>
                <a:tc>
                  <a:txBody>
                    <a:bodyPr/>
                    <a:lstStyle/>
                    <a:p>
                      <a:pPr algn="l">
                        <a:lnSpc>
                          <a:spcPts val="1540"/>
                        </a:lnSpc>
                        <a:defRPr/>
                      </a:pPr>
                      <a:r>
                        <a:rPr lang="en-US" sz="1100">
                          <a:solidFill>
                            <a:srgbClr val="000000"/>
                          </a:solidFill>
                          <a:latin typeface="Arimo"/>
                          <a:ea typeface="Arimo"/>
                          <a:cs typeface="Arimo"/>
                          <a:sym typeface="Arimo"/>
                        </a:rPr>
                        <a:t>This research applies stylometric features and SVM-based classification to develop a highly scalable and accurate system for plagiarism detection.</a:t>
                      </a:r>
                      <a:endParaRPr lang="en-US" sz="1100"/>
                    </a:p>
                    <a:p>
                      <a:pPr algn="l">
                        <a:lnSpc>
                          <a:spcPts val="1540"/>
                        </a:lnSpc>
                      </a:pPr>
                      <a:endParaRPr lang="en-US" sz="1100"/>
                    </a:p>
                  </a:txBody>
                  <a:tcPr marL="45713" marR="45713" marT="45713" marB="45713" anchor="ctr">
                    <a:lnL w="2381" cap="flat" cmpd="sng" algn="ctr">
                      <a:solidFill>
                        <a:srgbClr val="000000"/>
                      </a:solidFill>
                      <a:prstDash val="solid"/>
                      <a:round/>
                      <a:headEnd type="none" w="med" len="med"/>
                      <a:tailEnd type="none" w="med" len="med"/>
                    </a:lnL>
                    <a:lnR w="2381" cap="flat" cmpd="sng" algn="ctr">
                      <a:solidFill>
                        <a:srgbClr val="000000"/>
                      </a:solidFill>
                      <a:prstDash val="solid"/>
                      <a:round/>
                      <a:headEnd type="none" w="med" len="med"/>
                      <a:tailEnd type="none" w="med" len="med"/>
                    </a:lnR>
                    <a:lnT w="4762" cap="flat" cmpd="sng" algn="ctr">
                      <a:solidFill>
                        <a:srgbClr val="000000"/>
                      </a:solidFill>
                      <a:prstDash val="solid"/>
                      <a:round/>
                      <a:headEnd type="none" w="med" len="med"/>
                      <a:tailEnd type="none" w="med" len="med"/>
                    </a:lnT>
                    <a:lnB w="2381" cap="flat" cmpd="sng" algn="ctr">
                      <a:solidFill>
                        <a:srgbClr val="000000"/>
                      </a:solidFill>
                      <a:prstDash val="solid"/>
                      <a:round/>
                      <a:headEnd type="none" w="med" len="med"/>
                      <a:tailEnd type="none" w="med" len="med"/>
                    </a:lnB>
                  </a:tcPr>
                </a:tc>
                <a:tc>
                  <a:txBody>
                    <a:bodyPr/>
                    <a:lstStyle/>
                    <a:p>
                      <a:pPr algn="l">
                        <a:lnSpc>
                          <a:spcPts val="1540"/>
                        </a:lnSpc>
                        <a:defRPr/>
                      </a:pPr>
                      <a:r>
                        <a:rPr lang="en-US" sz="1100">
                          <a:solidFill>
                            <a:srgbClr val="000000"/>
                          </a:solidFill>
                          <a:latin typeface="Arimo"/>
                          <a:ea typeface="Arimo"/>
                          <a:cs typeface="Arimo"/>
                          <a:sym typeface="Arimo"/>
                        </a:rPr>
                        <a:t>A significant gap identified by this paper is the need to factor in human elements, such as integrating human evaluation or oversight alongside automated detection systems.</a:t>
                      </a:r>
                      <a:endParaRPr lang="en-US" sz="1100"/>
                    </a:p>
                  </a:txBody>
                  <a:tcPr marL="45713" marR="45713" marT="45713" marB="45713" anchor="ctr">
                    <a:lnL w="2381" cap="flat" cmpd="sng" algn="ctr">
                      <a:solidFill>
                        <a:srgbClr val="000000"/>
                      </a:solidFill>
                      <a:prstDash val="solid"/>
                      <a:round/>
                      <a:headEnd type="none" w="med" len="med"/>
                      <a:tailEnd type="none" w="med" len="med"/>
                    </a:lnL>
                    <a:lnR w="2381" cap="flat" cmpd="sng" algn="ctr">
                      <a:solidFill>
                        <a:srgbClr val="000000"/>
                      </a:solidFill>
                      <a:prstDash val="solid"/>
                      <a:round/>
                      <a:headEnd type="none" w="med" len="med"/>
                      <a:tailEnd type="none" w="med" len="med"/>
                    </a:lnR>
                    <a:lnT w="2381" cap="flat" cmpd="sng" algn="ctr">
                      <a:solidFill>
                        <a:srgbClr val="000000"/>
                      </a:solidFill>
                      <a:prstDash val="solid"/>
                      <a:round/>
                      <a:headEnd type="none" w="med" len="med"/>
                      <a:tailEnd type="none" w="med" len="med"/>
                    </a:lnT>
                    <a:lnB w="2381"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551995">
                <a:tc>
                  <a:txBody>
                    <a:bodyPr/>
                    <a:lstStyle/>
                    <a:p>
                      <a:pPr algn="l">
                        <a:lnSpc>
                          <a:spcPts val="1540"/>
                        </a:lnSpc>
                        <a:defRPr/>
                      </a:pPr>
                      <a:r>
                        <a:rPr lang="en-US" sz="1100">
                          <a:solidFill>
                            <a:srgbClr val="000000"/>
                          </a:solidFill>
                          <a:latin typeface="Arimo"/>
                          <a:ea typeface="Arimo"/>
                          <a:cs typeface="Arimo"/>
                          <a:sym typeface="Arimo"/>
                        </a:rPr>
                        <a:t>How would you use Sentence Transformers for an application like plagiarism detection or finding highly similar documents?[2]</a:t>
                      </a:r>
                      <a:endParaRPr lang="en-US" sz="1100"/>
                    </a:p>
                  </a:txBody>
                  <a:tcPr marL="45713" marR="45713" marT="45713" marB="45713" anchor="ctr">
                    <a:lnL w="2381" cap="flat" cmpd="sng" algn="ctr">
                      <a:solidFill>
                        <a:srgbClr val="000000"/>
                      </a:solidFill>
                      <a:prstDash val="solid"/>
                      <a:round/>
                      <a:headEnd type="none" w="med" len="med"/>
                      <a:tailEnd type="none" w="med" len="med"/>
                    </a:lnL>
                    <a:lnR w="2381" cap="flat" cmpd="sng" algn="ctr">
                      <a:solidFill>
                        <a:srgbClr val="000000"/>
                      </a:solidFill>
                      <a:prstDash val="solid"/>
                      <a:round/>
                      <a:headEnd type="none" w="med" len="med"/>
                      <a:tailEnd type="none" w="med" len="med"/>
                    </a:lnR>
                    <a:lnT w="2381" cap="flat" cmpd="sng" algn="ctr">
                      <a:solidFill>
                        <a:srgbClr val="000000"/>
                      </a:solidFill>
                      <a:prstDash val="solid"/>
                      <a:round/>
                      <a:headEnd type="none" w="med" len="med"/>
                      <a:tailEnd type="none" w="med" len="med"/>
                    </a:lnT>
                    <a:lnB w="2381" cap="flat" cmpd="sng" algn="ctr">
                      <a:solidFill>
                        <a:srgbClr val="000000"/>
                      </a:solidFill>
                      <a:prstDash val="solid"/>
                      <a:round/>
                      <a:headEnd type="none" w="med" len="med"/>
                      <a:tailEnd type="none" w="med" len="med"/>
                    </a:lnB>
                  </a:tcPr>
                </a:tc>
                <a:tc>
                  <a:txBody>
                    <a:bodyPr/>
                    <a:lstStyle/>
                    <a:p>
                      <a:pPr algn="l">
                        <a:lnSpc>
                          <a:spcPts val="1540"/>
                        </a:lnSpc>
                        <a:defRPr/>
                      </a:pPr>
                      <a:r>
                        <a:rPr lang="en-US" sz="1100">
                          <a:solidFill>
                            <a:srgbClr val="000000"/>
                          </a:solidFill>
                          <a:latin typeface="Arimo"/>
                          <a:ea typeface="Arimo"/>
                          <a:cs typeface="Arimo"/>
                          <a:sym typeface="Arimo"/>
                        </a:rPr>
                        <a:t>This work utilizes sentence embeddings, similarity measures, and n-gram techniques to effectively identify paraphrased content and highly similar documents using transformer-based models.</a:t>
                      </a:r>
                      <a:endParaRPr lang="en-US" sz="1100"/>
                    </a:p>
                  </a:txBody>
                  <a:tcPr marL="45713" marR="45713" marT="45713" marB="45713" anchor="ctr">
                    <a:lnL w="2381" cap="flat" cmpd="sng" algn="ctr">
                      <a:solidFill>
                        <a:srgbClr val="000000"/>
                      </a:solidFill>
                      <a:prstDash val="solid"/>
                      <a:round/>
                      <a:headEnd type="none" w="med" len="med"/>
                      <a:tailEnd type="none" w="med" len="med"/>
                    </a:lnL>
                    <a:lnR w="2381" cap="flat" cmpd="sng" algn="ctr">
                      <a:solidFill>
                        <a:srgbClr val="000000"/>
                      </a:solidFill>
                      <a:prstDash val="solid"/>
                      <a:round/>
                      <a:headEnd type="none" w="med" len="med"/>
                      <a:tailEnd type="none" w="med" len="med"/>
                    </a:lnR>
                    <a:lnT w="2381" cap="flat" cmpd="sng" algn="ctr">
                      <a:solidFill>
                        <a:srgbClr val="000000"/>
                      </a:solidFill>
                      <a:prstDash val="solid"/>
                      <a:round/>
                      <a:headEnd type="none" w="med" len="med"/>
                      <a:tailEnd type="none" w="med" len="med"/>
                    </a:lnT>
                    <a:lnB w="2381" cap="flat" cmpd="sng" algn="ctr">
                      <a:solidFill>
                        <a:srgbClr val="000000"/>
                      </a:solidFill>
                      <a:prstDash val="solid"/>
                      <a:round/>
                      <a:headEnd type="none" w="med" len="med"/>
                      <a:tailEnd type="none" w="med" len="med"/>
                    </a:lnB>
                  </a:tcPr>
                </a:tc>
                <a:tc>
                  <a:txBody>
                    <a:bodyPr/>
                    <a:lstStyle/>
                    <a:p>
                      <a:pPr algn="l">
                        <a:lnSpc>
                          <a:spcPts val="1540"/>
                        </a:lnSpc>
                        <a:defRPr/>
                      </a:pPr>
                      <a:r>
                        <a:rPr lang="en-US" sz="1100">
                          <a:solidFill>
                            <a:srgbClr val="000000"/>
                          </a:solidFill>
                          <a:latin typeface="Arimo"/>
                          <a:ea typeface="Arimo"/>
                          <a:cs typeface="Arimo"/>
                          <a:sym typeface="Arimo"/>
                        </a:rPr>
                        <a:t>Future work requires more rigorous validation of these practical applications and further fine-tuning of the transformer models to achieve optimal results.</a:t>
                      </a:r>
                      <a:endParaRPr lang="en-US" sz="1100"/>
                    </a:p>
                  </a:txBody>
                  <a:tcPr marL="45713" marR="45713" marT="45713" marB="45713" anchor="ctr">
                    <a:lnL w="2381" cap="flat" cmpd="sng" algn="ctr">
                      <a:solidFill>
                        <a:srgbClr val="000000"/>
                      </a:solidFill>
                      <a:prstDash val="solid"/>
                      <a:round/>
                      <a:headEnd type="none" w="med" len="med"/>
                      <a:tailEnd type="none" w="med" len="med"/>
                    </a:lnL>
                    <a:lnR w="2381" cap="flat" cmpd="sng" algn="ctr">
                      <a:solidFill>
                        <a:srgbClr val="000000"/>
                      </a:solidFill>
                      <a:prstDash val="solid"/>
                      <a:round/>
                      <a:headEnd type="none" w="med" len="med"/>
                      <a:tailEnd type="none" w="med" len="med"/>
                    </a:lnR>
                    <a:lnT w="2381" cap="flat" cmpd="sng" algn="ctr">
                      <a:solidFill>
                        <a:srgbClr val="000000"/>
                      </a:solidFill>
                      <a:prstDash val="solid"/>
                      <a:round/>
                      <a:headEnd type="none" w="med" len="med"/>
                      <a:tailEnd type="none" w="med" len="med"/>
                    </a:lnT>
                    <a:lnB w="2381"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9153525" cy="5153025"/>
            <a:chOff x="0" y="0"/>
            <a:chExt cx="24409400" cy="13741400"/>
          </a:xfrm>
        </p:grpSpPr>
        <p:sp>
          <p:nvSpPr>
            <p:cNvPr id="3" name="Freeform 3"/>
            <p:cNvSpPr/>
            <p:nvPr/>
          </p:nvSpPr>
          <p:spPr>
            <a:xfrm>
              <a:off x="12700" y="1270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EEEEE"/>
            </a:solidFill>
          </p:spPr>
        </p:sp>
        <p:sp>
          <p:nvSpPr>
            <p:cNvPr id="4" name="Freeform 4"/>
            <p:cNvSpPr/>
            <p:nvPr/>
          </p:nvSpPr>
          <p:spPr>
            <a:xfrm>
              <a:off x="0" y="0"/>
              <a:ext cx="24409400" cy="13741400"/>
            </a:xfrm>
            <a:custGeom>
              <a:avLst/>
              <a:gdLst/>
              <a:ahLst/>
              <a:cxnLst/>
              <a:rect l="l" t="t" r="r" b="b"/>
              <a:pathLst>
                <a:path w="24409400" h="13741400">
                  <a:moveTo>
                    <a:pt x="12700" y="0"/>
                  </a:moveTo>
                  <a:lnTo>
                    <a:pt x="24396700" y="0"/>
                  </a:lnTo>
                  <a:cubicBezTo>
                    <a:pt x="24403686" y="0"/>
                    <a:pt x="24409400" y="5715"/>
                    <a:pt x="24409400" y="12700"/>
                  </a:cubicBezTo>
                  <a:lnTo>
                    <a:pt x="24409400" y="13728700"/>
                  </a:lnTo>
                  <a:cubicBezTo>
                    <a:pt x="24409400" y="13735686"/>
                    <a:pt x="24403686" y="13741400"/>
                    <a:pt x="24396700" y="13741400"/>
                  </a:cubicBezTo>
                  <a:lnTo>
                    <a:pt x="12700" y="13741400"/>
                  </a:lnTo>
                  <a:cubicBezTo>
                    <a:pt x="5715" y="13741400"/>
                    <a:pt x="0" y="13735686"/>
                    <a:pt x="0" y="13728700"/>
                  </a:cubicBezTo>
                  <a:lnTo>
                    <a:pt x="0" y="12700"/>
                  </a:lnTo>
                  <a:cubicBezTo>
                    <a:pt x="0" y="5715"/>
                    <a:pt x="5715" y="0"/>
                    <a:pt x="12700" y="0"/>
                  </a:cubicBezTo>
                  <a:moveTo>
                    <a:pt x="12700" y="25400"/>
                  </a:moveTo>
                  <a:lnTo>
                    <a:pt x="12700" y="12700"/>
                  </a:lnTo>
                  <a:lnTo>
                    <a:pt x="25400" y="12700"/>
                  </a:lnTo>
                  <a:lnTo>
                    <a:pt x="25400" y="13728700"/>
                  </a:lnTo>
                  <a:lnTo>
                    <a:pt x="12700" y="13728700"/>
                  </a:lnTo>
                  <a:lnTo>
                    <a:pt x="12700" y="13716000"/>
                  </a:lnTo>
                  <a:lnTo>
                    <a:pt x="24396700" y="13716000"/>
                  </a:lnTo>
                  <a:lnTo>
                    <a:pt x="24396700" y="13728700"/>
                  </a:lnTo>
                  <a:lnTo>
                    <a:pt x="24384000" y="13728700"/>
                  </a:lnTo>
                  <a:lnTo>
                    <a:pt x="24384000" y="12700"/>
                  </a:lnTo>
                  <a:lnTo>
                    <a:pt x="24396700" y="12700"/>
                  </a:lnTo>
                  <a:lnTo>
                    <a:pt x="24396700" y="25400"/>
                  </a:lnTo>
                  <a:lnTo>
                    <a:pt x="12700" y="25400"/>
                  </a:lnTo>
                  <a:close/>
                </a:path>
              </a:pathLst>
            </a:custGeom>
            <a:solidFill>
              <a:srgbClr val="595959"/>
            </a:solidFill>
          </p:spPr>
        </p:sp>
      </p:grpSp>
      <p:grpSp>
        <p:nvGrpSpPr>
          <p:cNvPr id="5" name="Group 5"/>
          <p:cNvGrpSpPr/>
          <p:nvPr/>
        </p:nvGrpSpPr>
        <p:grpSpPr>
          <a:xfrm>
            <a:off x="311700" y="335507"/>
            <a:ext cx="8520600" cy="648970"/>
            <a:chOff x="0" y="0"/>
            <a:chExt cx="22721600" cy="1730587"/>
          </a:xfrm>
        </p:grpSpPr>
        <p:sp>
          <p:nvSpPr>
            <p:cNvPr id="6" name="Freeform 6"/>
            <p:cNvSpPr/>
            <p:nvPr/>
          </p:nvSpPr>
          <p:spPr>
            <a:xfrm>
              <a:off x="0" y="0"/>
              <a:ext cx="22721601" cy="1730587"/>
            </a:xfrm>
            <a:custGeom>
              <a:avLst/>
              <a:gdLst/>
              <a:ahLst/>
              <a:cxnLst/>
              <a:rect l="l" t="t" r="r" b="b"/>
              <a:pathLst>
                <a:path w="22721601" h="1730587">
                  <a:moveTo>
                    <a:pt x="0" y="0"/>
                  </a:moveTo>
                  <a:lnTo>
                    <a:pt x="22721601" y="0"/>
                  </a:lnTo>
                  <a:lnTo>
                    <a:pt x="22721601" y="1730587"/>
                  </a:lnTo>
                  <a:lnTo>
                    <a:pt x="0" y="1730587"/>
                  </a:lnTo>
                  <a:close/>
                </a:path>
              </a:pathLst>
            </a:custGeom>
          </p:spPr>
        </p:sp>
        <p:sp>
          <p:nvSpPr>
            <p:cNvPr id="7" name="TextBox 7"/>
            <p:cNvSpPr txBox="1"/>
            <p:nvPr/>
          </p:nvSpPr>
          <p:spPr>
            <a:xfrm>
              <a:off x="0" y="-76200"/>
              <a:ext cx="22721600" cy="1806787"/>
            </a:xfrm>
            <a:prstGeom prst="rect">
              <a:avLst/>
            </a:prstGeom>
          </p:spPr>
          <p:txBody>
            <a:bodyPr lIns="0" tIns="0" rIns="0" bIns="0" rtlCol="0" anchor="t"/>
            <a:lstStyle/>
            <a:p>
              <a:pPr algn="ctr">
                <a:lnSpc>
                  <a:spcPts val="4200"/>
                </a:lnSpc>
              </a:pPr>
              <a:r>
                <a:rPr lang="en-US" sz="3500">
                  <a:solidFill>
                    <a:srgbClr val="000000"/>
                  </a:solidFill>
                  <a:latin typeface="Arial MT Pro"/>
                  <a:ea typeface="Arial MT Pro"/>
                  <a:cs typeface="Arial MT Pro"/>
                  <a:sym typeface="Arial MT Pro"/>
                </a:rPr>
                <a:t>Tech Stack</a:t>
              </a:r>
            </a:p>
          </p:txBody>
        </p:sp>
      </p:grpSp>
      <p:sp>
        <p:nvSpPr>
          <p:cNvPr id="8" name="Freeform 8"/>
          <p:cNvSpPr/>
          <p:nvPr/>
        </p:nvSpPr>
        <p:spPr>
          <a:xfrm>
            <a:off x="28379" y="7603"/>
            <a:ext cx="971943" cy="1013493"/>
          </a:xfrm>
          <a:custGeom>
            <a:avLst/>
            <a:gdLst/>
            <a:ahLst/>
            <a:cxnLst/>
            <a:rect l="l" t="t" r="r" b="b"/>
            <a:pathLst>
              <a:path w="971943" h="1013493">
                <a:moveTo>
                  <a:pt x="0" y="0"/>
                </a:moveTo>
                <a:lnTo>
                  <a:pt x="971942" y="0"/>
                </a:lnTo>
                <a:lnTo>
                  <a:pt x="971942" y="1013494"/>
                </a:lnTo>
                <a:lnTo>
                  <a:pt x="0" y="1013494"/>
                </a:lnTo>
                <a:lnTo>
                  <a:pt x="0" y="0"/>
                </a:lnTo>
                <a:close/>
              </a:path>
            </a:pathLst>
          </a:custGeom>
          <a:blipFill>
            <a:blip r:embed="rId2"/>
            <a:stretch>
              <a:fillRect l="-2670" t="-1023" r="-2670"/>
            </a:stretch>
          </a:blipFill>
        </p:spPr>
      </p:sp>
      <p:grpSp>
        <p:nvGrpSpPr>
          <p:cNvPr id="9" name="Group 9"/>
          <p:cNvGrpSpPr/>
          <p:nvPr/>
        </p:nvGrpSpPr>
        <p:grpSpPr>
          <a:xfrm>
            <a:off x="8327115" y="24504"/>
            <a:ext cx="816885" cy="850606"/>
            <a:chOff x="0" y="0"/>
            <a:chExt cx="2595506" cy="2702649"/>
          </a:xfrm>
        </p:grpSpPr>
        <p:sp>
          <p:nvSpPr>
            <p:cNvPr id="10" name="Freeform 10"/>
            <p:cNvSpPr/>
            <p:nvPr/>
          </p:nvSpPr>
          <p:spPr>
            <a:xfrm>
              <a:off x="13484" y="14041"/>
              <a:ext cx="2568427" cy="2674453"/>
            </a:xfrm>
            <a:custGeom>
              <a:avLst/>
              <a:gdLst/>
              <a:ahLst/>
              <a:cxnLst/>
              <a:rect l="l" t="t" r="r" b="b"/>
              <a:pathLst>
                <a:path w="2568427" h="2674453">
                  <a:moveTo>
                    <a:pt x="0" y="1337226"/>
                  </a:moveTo>
                  <a:cubicBezTo>
                    <a:pt x="0" y="598691"/>
                    <a:pt x="574957" y="0"/>
                    <a:pt x="1284214" y="0"/>
                  </a:cubicBezTo>
                  <a:cubicBezTo>
                    <a:pt x="1993471" y="0"/>
                    <a:pt x="2568427" y="598691"/>
                    <a:pt x="2568427" y="1337226"/>
                  </a:cubicBezTo>
                  <a:cubicBezTo>
                    <a:pt x="2568427" y="2075761"/>
                    <a:pt x="1993471" y="2674453"/>
                    <a:pt x="1284214" y="2674453"/>
                  </a:cubicBezTo>
                  <a:cubicBezTo>
                    <a:pt x="574957" y="2674453"/>
                    <a:pt x="0" y="2075902"/>
                    <a:pt x="0" y="1337226"/>
                  </a:cubicBezTo>
                  <a:close/>
                </a:path>
              </a:pathLst>
            </a:custGeom>
            <a:solidFill>
              <a:srgbClr val="EEEEEE"/>
            </a:solidFill>
          </p:spPr>
        </p:sp>
        <p:sp>
          <p:nvSpPr>
            <p:cNvPr id="11" name="Freeform 11"/>
            <p:cNvSpPr/>
            <p:nvPr/>
          </p:nvSpPr>
          <p:spPr>
            <a:xfrm>
              <a:off x="0" y="0"/>
              <a:ext cx="2595395" cy="2702534"/>
            </a:xfrm>
            <a:custGeom>
              <a:avLst/>
              <a:gdLst/>
              <a:ahLst/>
              <a:cxnLst/>
              <a:rect l="l" t="t" r="r" b="b"/>
              <a:pathLst>
                <a:path w="2595395" h="2702534">
                  <a:moveTo>
                    <a:pt x="0" y="1351267"/>
                  </a:moveTo>
                  <a:cubicBezTo>
                    <a:pt x="0" y="605009"/>
                    <a:pt x="581024" y="0"/>
                    <a:pt x="1297698" y="0"/>
                  </a:cubicBezTo>
                  <a:lnTo>
                    <a:pt x="1297698" y="14041"/>
                  </a:lnTo>
                  <a:lnTo>
                    <a:pt x="1297698" y="0"/>
                  </a:lnTo>
                  <a:cubicBezTo>
                    <a:pt x="2014371" y="0"/>
                    <a:pt x="2595395" y="605009"/>
                    <a:pt x="2595395" y="1351267"/>
                  </a:cubicBezTo>
                  <a:lnTo>
                    <a:pt x="2581911" y="1351267"/>
                  </a:lnTo>
                  <a:lnTo>
                    <a:pt x="2595395" y="1351267"/>
                  </a:lnTo>
                  <a:cubicBezTo>
                    <a:pt x="2595395" y="2097525"/>
                    <a:pt x="2014371" y="2702534"/>
                    <a:pt x="1297698" y="2702534"/>
                  </a:cubicBezTo>
                  <a:lnTo>
                    <a:pt x="1297698" y="2688494"/>
                  </a:lnTo>
                  <a:lnTo>
                    <a:pt x="1297698" y="2702534"/>
                  </a:lnTo>
                  <a:cubicBezTo>
                    <a:pt x="581024" y="2702672"/>
                    <a:pt x="0" y="2097665"/>
                    <a:pt x="0" y="1351267"/>
                  </a:cubicBezTo>
                  <a:lnTo>
                    <a:pt x="13484" y="1351267"/>
                  </a:lnTo>
                  <a:lnTo>
                    <a:pt x="26968" y="1351267"/>
                  </a:lnTo>
                  <a:lnTo>
                    <a:pt x="13484" y="1351267"/>
                  </a:lnTo>
                  <a:lnTo>
                    <a:pt x="0" y="1351267"/>
                  </a:lnTo>
                  <a:moveTo>
                    <a:pt x="26968" y="1351267"/>
                  </a:moveTo>
                  <a:cubicBezTo>
                    <a:pt x="26968" y="1358989"/>
                    <a:pt x="20900" y="1365308"/>
                    <a:pt x="13484" y="1365308"/>
                  </a:cubicBezTo>
                  <a:cubicBezTo>
                    <a:pt x="6068" y="1365308"/>
                    <a:pt x="0" y="1358989"/>
                    <a:pt x="0" y="1351267"/>
                  </a:cubicBezTo>
                  <a:cubicBezTo>
                    <a:pt x="0" y="1343545"/>
                    <a:pt x="6068" y="1337227"/>
                    <a:pt x="13484" y="1337227"/>
                  </a:cubicBezTo>
                  <a:cubicBezTo>
                    <a:pt x="20900" y="1337227"/>
                    <a:pt x="26968" y="1343545"/>
                    <a:pt x="26968" y="1351267"/>
                  </a:cubicBezTo>
                  <a:cubicBezTo>
                    <a:pt x="26968" y="2082080"/>
                    <a:pt x="595857" y="2674453"/>
                    <a:pt x="1297698" y="2674453"/>
                  </a:cubicBezTo>
                  <a:cubicBezTo>
                    <a:pt x="1999538" y="2674453"/>
                    <a:pt x="2568427" y="2082080"/>
                    <a:pt x="2568427" y="1351267"/>
                  </a:cubicBezTo>
                  <a:cubicBezTo>
                    <a:pt x="2568427" y="620454"/>
                    <a:pt x="1999538" y="28081"/>
                    <a:pt x="1297698" y="28081"/>
                  </a:cubicBezTo>
                  <a:lnTo>
                    <a:pt x="1297698" y="14041"/>
                  </a:lnTo>
                  <a:lnTo>
                    <a:pt x="1297698" y="28081"/>
                  </a:lnTo>
                  <a:cubicBezTo>
                    <a:pt x="595857" y="28081"/>
                    <a:pt x="26968" y="620454"/>
                    <a:pt x="26968" y="1351267"/>
                  </a:cubicBezTo>
                  <a:close/>
                </a:path>
              </a:pathLst>
            </a:custGeom>
            <a:solidFill>
              <a:srgbClr val="595959"/>
            </a:solidFill>
          </p:spPr>
        </p:sp>
        <p:sp>
          <p:nvSpPr>
            <p:cNvPr id="12" name="TextBox 12"/>
            <p:cNvSpPr txBox="1"/>
            <p:nvPr/>
          </p:nvSpPr>
          <p:spPr>
            <a:xfrm>
              <a:off x="0" y="-38100"/>
              <a:ext cx="2595506" cy="2740749"/>
            </a:xfrm>
            <a:prstGeom prst="rect">
              <a:avLst/>
            </a:prstGeom>
          </p:spPr>
          <p:txBody>
            <a:bodyPr lIns="21318" tIns="21318" rIns="21318" bIns="21318" rtlCol="0" anchor="ctr"/>
            <a:lstStyle/>
            <a:p>
              <a:pPr algn="ctr">
                <a:lnSpc>
                  <a:spcPts val="2014"/>
                </a:lnSpc>
              </a:pPr>
              <a:r>
                <a:rPr lang="en-US" sz="1678">
                  <a:solidFill>
                    <a:srgbClr val="000000"/>
                  </a:solidFill>
                  <a:latin typeface="Times New Roman MT"/>
                  <a:ea typeface="Times New Roman MT"/>
                  <a:cs typeface="Times New Roman MT"/>
                  <a:sym typeface="Times New Roman MT"/>
                </a:rPr>
                <a:t>15</a:t>
              </a:r>
            </a:p>
          </p:txBody>
        </p:sp>
      </p:grpSp>
      <p:sp>
        <p:nvSpPr>
          <p:cNvPr id="13" name="TextBox 13"/>
          <p:cNvSpPr txBox="1"/>
          <p:nvPr/>
        </p:nvSpPr>
        <p:spPr>
          <a:xfrm>
            <a:off x="2362200" y="138760"/>
            <a:ext cx="4796563" cy="230832"/>
          </a:xfrm>
          <a:prstGeom prst="rect">
            <a:avLst/>
          </a:prstGeom>
        </p:spPr>
        <p:txBody>
          <a:bodyPr wrap="square" lIns="0" tIns="0" rIns="0" bIns="0" rtlCol="0" anchor="t">
            <a:spAutoFit/>
          </a:bodyPr>
          <a:lstStyle/>
          <a:p>
            <a:pPr algn="ctr">
              <a:lnSpc>
                <a:spcPts val="1800"/>
              </a:lnSpc>
              <a:spcBef>
                <a:spcPct val="0"/>
              </a:spcBef>
            </a:pPr>
            <a:r>
              <a:rPr lang="en-US" sz="1500" dirty="0">
                <a:solidFill>
                  <a:srgbClr val="000000"/>
                </a:solidFill>
                <a:latin typeface="Times New Roman MT"/>
                <a:ea typeface="Times New Roman MT"/>
                <a:cs typeface="Times New Roman MT"/>
                <a:sym typeface="Times New Roman MT"/>
              </a:rPr>
              <a:t>B.E.(I.T.) / Sem VIII / MAJOR PROJECT II-2025-26</a:t>
            </a:r>
          </a:p>
        </p:txBody>
      </p:sp>
      <p:sp>
        <p:nvSpPr>
          <p:cNvPr id="14" name="TextBox 14"/>
          <p:cNvSpPr txBox="1"/>
          <p:nvPr/>
        </p:nvSpPr>
        <p:spPr>
          <a:xfrm>
            <a:off x="8918207" y="4882825"/>
            <a:ext cx="152400" cy="171450"/>
          </a:xfrm>
          <a:prstGeom prst="rect">
            <a:avLst/>
          </a:prstGeom>
        </p:spPr>
        <p:txBody>
          <a:bodyPr wrap="none" lIns="0" tIns="0" rIns="0" bIns="0" rtlCol="0" anchor="t">
            <a:spAutoFit/>
          </a:bodyPr>
          <a:lstStyle/>
          <a:p>
            <a:pPr algn="ctr">
              <a:lnSpc>
                <a:spcPts val="1540"/>
              </a:lnSpc>
              <a:spcBef>
                <a:spcPct val="0"/>
              </a:spcBef>
            </a:pPr>
            <a:r>
              <a:rPr lang="en-US" sz="1100">
                <a:solidFill>
                  <a:srgbClr val="000000"/>
                </a:solidFill>
                <a:latin typeface="Canva Sans"/>
                <a:ea typeface="Canva Sans"/>
                <a:cs typeface="Canva Sans"/>
                <a:sym typeface="Canva Sans"/>
              </a:rPr>
              <a:t>7</a:t>
            </a:r>
          </a:p>
        </p:txBody>
      </p:sp>
      <p:sp>
        <p:nvSpPr>
          <p:cNvPr id="15" name="TextBox 15"/>
          <p:cNvSpPr txBox="1"/>
          <p:nvPr/>
        </p:nvSpPr>
        <p:spPr>
          <a:xfrm>
            <a:off x="523875" y="1300162"/>
            <a:ext cx="8308425" cy="1228725"/>
          </a:xfrm>
          <a:prstGeom prst="rect">
            <a:avLst/>
          </a:prstGeom>
        </p:spPr>
        <p:txBody>
          <a:bodyPr lIns="0" tIns="0" rIns="0" bIns="0" rtlCol="0" anchor="t">
            <a:spAutoFit/>
          </a:bodyPr>
          <a:lstStyle/>
          <a:p>
            <a:pPr algn="l">
              <a:lnSpc>
                <a:spcPts val="1919"/>
              </a:lnSpc>
              <a:spcBef>
                <a:spcPct val="0"/>
              </a:spcBef>
            </a:pPr>
            <a:r>
              <a:rPr lang="en-US" sz="1599">
                <a:solidFill>
                  <a:srgbClr val="000000"/>
                </a:solidFill>
                <a:latin typeface="Times New Roman MT"/>
                <a:ea typeface="Times New Roman MT"/>
                <a:cs typeface="Times New Roman MT"/>
                <a:sym typeface="Times New Roman MT"/>
              </a:rPr>
              <a:t>The system requires an Intel Core i5 (multi-core) processor to handle general processing and model operations efficiently. An NVIDIA RTX 3050/4050 GPU is recommended to accelerate embedding generation and similarity computations using CUDA. A minimum of 16 GB RAM is needed to load NLP models and process datasets smoothly, while a 512 GB SSD ensures fast storage access for models, embeddings, and cached data.</a:t>
            </a:r>
          </a:p>
        </p:txBody>
      </p:sp>
      <p:sp>
        <p:nvSpPr>
          <p:cNvPr id="16" name="TextBox 16"/>
          <p:cNvSpPr txBox="1"/>
          <p:nvPr/>
        </p:nvSpPr>
        <p:spPr>
          <a:xfrm>
            <a:off x="620464" y="1004888"/>
            <a:ext cx="2732336" cy="290144"/>
          </a:xfrm>
          <a:prstGeom prst="rect">
            <a:avLst/>
          </a:prstGeom>
        </p:spPr>
        <p:txBody>
          <a:bodyPr wrap="square" lIns="0" tIns="0" rIns="0" bIns="0" rtlCol="0" anchor="t">
            <a:spAutoFit/>
          </a:bodyPr>
          <a:lstStyle/>
          <a:p>
            <a:pPr algn="ctr">
              <a:lnSpc>
                <a:spcPts val="2279"/>
              </a:lnSpc>
              <a:spcBef>
                <a:spcPct val="0"/>
              </a:spcBef>
            </a:pPr>
            <a:r>
              <a:rPr lang="en-US" sz="1899" b="1" dirty="0">
                <a:solidFill>
                  <a:srgbClr val="000000"/>
                </a:solidFill>
                <a:latin typeface="Times New Roman MT Bold"/>
                <a:ea typeface="Times New Roman MT Bold"/>
                <a:cs typeface="Times New Roman MT Bold"/>
                <a:sym typeface="Times New Roman MT Bold"/>
              </a:rPr>
              <a:t>Hardware Requirements</a:t>
            </a:r>
          </a:p>
        </p:txBody>
      </p:sp>
      <p:sp>
        <p:nvSpPr>
          <p:cNvPr id="17" name="TextBox 17"/>
          <p:cNvSpPr txBox="1"/>
          <p:nvPr/>
        </p:nvSpPr>
        <p:spPr>
          <a:xfrm>
            <a:off x="620464" y="2595562"/>
            <a:ext cx="2503736" cy="290144"/>
          </a:xfrm>
          <a:prstGeom prst="rect">
            <a:avLst/>
          </a:prstGeom>
        </p:spPr>
        <p:txBody>
          <a:bodyPr wrap="square" lIns="0" tIns="0" rIns="0" bIns="0" rtlCol="0" anchor="t">
            <a:spAutoFit/>
          </a:bodyPr>
          <a:lstStyle/>
          <a:p>
            <a:pPr algn="ctr">
              <a:lnSpc>
                <a:spcPts val="2279"/>
              </a:lnSpc>
              <a:spcBef>
                <a:spcPct val="0"/>
              </a:spcBef>
            </a:pPr>
            <a:r>
              <a:rPr lang="en-US" sz="1899" b="1" dirty="0">
                <a:solidFill>
                  <a:srgbClr val="000000"/>
                </a:solidFill>
                <a:latin typeface="Times New Roman MT Bold"/>
                <a:ea typeface="Times New Roman MT Bold"/>
                <a:cs typeface="Times New Roman MT Bold"/>
                <a:sym typeface="Times New Roman MT Bold"/>
              </a:rPr>
              <a:t>Software Requirements</a:t>
            </a:r>
          </a:p>
        </p:txBody>
      </p:sp>
      <p:sp>
        <p:nvSpPr>
          <p:cNvPr id="18" name="TextBox 18"/>
          <p:cNvSpPr txBox="1"/>
          <p:nvPr/>
        </p:nvSpPr>
        <p:spPr>
          <a:xfrm>
            <a:off x="523875" y="2938462"/>
            <a:ext cx="8620125" cy="1276350"/>
          </a:xfrm>
          <a:prstGeom prst="rect">
            <a:avLst/>
          </a:prstGeom>
        </p:spPr>
        <p:txBody>
          <a:bodyPr lIns="0" tIns="0" rIns="0" bIns="0" rtlCol="0" anchor="t">
            <a:spAutoFit/>
          </a:bodyPr>
          <a:lstStyle/>
          <a:p>
            <a:pPr algn="l">
              <a:lnSpc>
                <a:spcPts val="2014"/>
              </a:lnSpc>
              <a:spcBef>
                <a:spcPct val="0"/>
              </a:spcBef>
            </a:pPr>
            <a:r>
              <a:rPr lang="en-US" sz="1678">
                <a:solidFill>
                  <a:srgbClr val="000000"/>
                </a:solidFill>
                <a:latin typeface="Times New Roman MT"/>
                <a:ea typeface="Times New Roman MT"/>
                <a:cs typeface="Times New Roman MT"/>
                <a:sym typeface="Times New Roman MT"/>
              </a:rPr>
              <a:t>The project is developed using Python 3.10+ due to its strong NLP and ML ecosystem. spaCy and Sentence-Transformers are used for linguistic processing and semantic similarity tasks, while PyStyl/FastStylometry support stylometric analysis. PyTorch serves as the ML framework, and FAISS is used for efficient vector similarity search. Development tools include Jupyter Notebook, VS Code, and Git for experimentation and version control.</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28379" y="24504"/>
            <a:ext cx="9153525" cy="5153025"/>
            <a:chOff x="0" y="0"/>
            <a:chExt cx="24409400" cy="13741400"/>
          </a:xfrm>
        </p:grpSpPr>
        <p:sp>
          <p:nvSpPr>
            <p:cNvPr id="3" name="Freeform 3"/>
            <p:cNvSpPr/>
            <p:nvPr/>
          </p:nvSpPr>
          <p:spPr>
            <a:xfrm>
              <a:off x="12700" y="1270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EEEEE"/>
            </a:solidFill>
          </p:spPr>
        </p:sp>
        <p:sp>
          <p:nvSpPr>
            <p:cNvPr id="4" name="Freeform 4"/>
            <p:cNvSpPr/>
            <p:nvPr/>
          </p:nvSpPr>
          <p:spPr>
            <a:xfrm>
              <a:off x="0" y="0"/>
              <a:ext cx="24409400" cy="13741400"/>
            </a:xfrm>
            <a:custGeom>
              <a:avLst/>
              <a:gdLst/>
              <a:ahLst/>
              <a:cxnLst/>
              <a:rect l="l" t="t" r="r" b="b"/>
              <a:pathLst>
                <a:path w="24409400" h="13741400">
                  <a:moveTo>
                    <a:pt x="12700" y="0"/>
                  </a:moveTo>
                  <a:lnTo>
                    <a:pt x="24396700" y="0"/>
                  </a:lnTo>
                  <a:cubicBezTo>
                    <a:pt x="24403686" y="0"/>
                    <a:pt x="24409400" y="5715"/>
                    <a:pt x="24409400" y="12700"/>
                  </a:cubicBezTo>
                  <a:lnTo>
                    <a:pt x="24409400" y="13728700"/>
                  </a:lnTo>
                  <a:cubicBezTo>
                    <a:pt x="24409400" y="13735686"/>
                    <a:pt x="24403686" y="13741400"/>
                    <a:pt x="24396700" y="13741400"/>
                  </a:cubicBezTo>
                  <a:lnTo>
                    <a:pt x="12700" y="13741400"/>
                  </a:lnTo>
                  <a:cubicBezTo>
                    <a:pt x="5715" y="13741400"/>
                    <a:pt x="0" y="13735686"/>
                    <a:pt x="0" y="13728700"/>
                  </a:cubicBezTo>
                  <a:lnTo>
                    <a:pt x="0" y="12700"/>
                  </a:lnTo>
                  <a:cubicBezTo>
                    <a:pt x="0" y="5715"/>
                    <a:pt x="5715" y="0"/>
                    <a:pt x="12700" y="0"/>
                  </a:cubicBezTo>
                  <a:moveTo>
                    <a:pt x="12700" y="25400"/>
                  </a:moveTo>
                  <a:lnTo>
                    <a:pt x="12700" y="12700"/>
                  </a:lnTo>
                  <a:lnTo>
                    <a:pt x="25400" y="12700"/>
                  </a:lnTo>
                  <a:lnTo>
                    <a:pt x="25400" y="13728700"/>
                  </a:lnTo>
                  <a:lnTo>
                    <a:pt x="12700" y="13728700"/>
                  </a:lnTo>
                  <a:lnTo>
                    <a:pt x="12700" y="13716000"/>
                  </a:lnTo>
                  <a:lnTo>
                    <a:pt x="24396700" y="13716000"/>
                  </a:lnTo>
                  <a:lnTo>
                    <a:pt x="24396700" y="13728700"/>
                  </a:lnTo>
                  <a:lnTo>
                    <a:pt x="24384000" y="13728700"/>
                  </a:lnTo>
                  <a:lnTo>
                    <a:pt x="24384000" y="12700"/>
                  </a:lnTo>
                  <a:lnTo>
                    <a:pt x="24396700" y="12700"/>
                  </a:lnTo>
                  <a:lnTo>
                    <a:pt x="24396700" y="25400"/>
                  </a:lnTo>
                  <a:lnTo>
                    <a:pt x="12700" y="25400"/>
                  </a:lnTo>
                  <a:close/>
                </a:path>
              </a:pathLst>
            </a:custGeom>
            <a:solidFill>
              <a:srgbClr val="595959"/>
            </a:solidFill>
          </p:spPr>
        </p:sp>
      </p:grpSp>
      <p:grpSp>
        <p:nvGrpSpPr>
          <p:cNvPr id="5" name="Group 5"/>
          <p:cNvGrpSpPr/>
          <p:nvPr/>
        </p:nvGrpSpPr>
        <p:grpSpPr>
          <a:xfrm>
            <a:off x="311700" y="335507"/>
            <a:ext cx="8520600" cy="648970"/>
            <a:chOff x="0" y="0"/>
            <a:chExt cx="22721600" cy="1730587"/>
          </a:xfrm>
        </p:grpSpPr>
        <p:sp>
          <p:nvSpPr>
            <p:cNvPr id="6" name="Freeform 6"/>
            <p:cNvSpPr/>
            <p:nvPr/>
          </p:nvSpPr>
          <p:spPr>
            <a:xfrm>
              <a:off x="0" y="0"/>
              <a:ext cx="22721601" cy="1730587"/>
            </a:xfrm>
            <a:custGeom>
              <a:avLst/>
              <a:gdLst/>
              <a:ahLst/>
              <a:cxnLst/>
              <a:rect l="l" t="t" r="r" b="b"/>
              <a:pathLst>
                <a:path w="22721601" h="1730587">
                  <a:moveTo>
                    <a:pt x="0" y="0"/>
                  </a:moveTo>
                  <a:lnTo>
                    <a:pt x="22721601" y="0"/>
                  </a:lnTo>
                  <a:lnTo>
                    <a:pt x="22721601" y="1730587"/>
                  </a:lnTo>
                  <a:lnTo>
                    <a:pt x="0" y="1730587"/>
                  </a:lnTo>
                  <a:close/>
                </a:path>
              </a:pathLst>
            </a:custGeom>
          </p:spPr>
        </p:sp>
        <p:sp>
          <p:nvSpPr>
            <p:cNvPr id="7" name="TextBox 7"/>
            <p:cNvSpPr txBox="1"/>
            <p:nvPr/>
          </p:nvSpPr>
          <p:spPr>
            <a:xfrm>
              <a:off x="0" y="-76200"/>
              <a:ext cx="22721600" cy="1806787"/>
            </a:xfrm>
            <a:prstGeom prst="rect">
              <a:avLst/>
            </a:prstGeom>
          </p:spPr>
          <p:txBody>
            <a:bodyPr lIns="0" tIns="0" rIns="0" bIns="0" rtlCol="0" anchor="t"/>
            <a:lstStyle/>
            <a:p>
              <a:pPr algn="ctr">
                <a:lnSpc>
                  <a:spcPts val="4200"/>
                </a:lnSpc>
              </a:pPr>
              <a:r>
                <a:rPr lang="en-US" sz="3500">
                  <a:solidFill>
                    <a:srgbClr val="000000"/>
                  </a:solidFill>
                  <a:latin typeface="Arial MT Pro"/>
                  <a:ea typeface="Arial MT Pro"/>
                  <a:cs typeface="Arial MT Pro"/>
                  <a:sym typeface="Arial MT Pro"/>
                </a:rPr>
                <a:t>System Architecture</a:t>
              </a:r>
            </a:p>
          </p:txBody>
        </p:sp>
      </p:grpSp>
      <p:sp>
        <p:nvSpPr>
          <p:cNvPr id="8" name="Freeform 8"/>
          <p:cNvSpPr/>
          <p:nvPr/>
        </p:nvSpPr>
        <p:spPr>
          <a:xfrm>
            <a:off x="28379" y="7603"/>
            <a:ext cx="971943" cy="1013493"/>
          </a:xfrm>
          <a:custGeom>
            <a:avLst/>
            <a:gdLst/>
            <a:ahLst/>
            <a:cxnLst/>
            <a:rect l="l" t="t" r="r" b="b"/>
            <a:pathLst>
              <a:path w="971943" h="1013493">
                <a:moveTo>
                  <a:pt x="0" y="0"/>
                </a:moveTo>
                <a:lnTo>
                  <a:pt x="971942" y="0"/>
                </a:lnTo>
                <a:lnTo>
                  <a:pt x="971942" y="1013494"/>
                </a:lnTo>
                <a:lnTo>
                  <a:pt x="0" y="1013494"/>
                </a:lnTo>
                <a:lnTo>
                  <a:pt x="0" y="0"/>
                </a:lnTo>
                <a:close/>
              </a:path>
            </a:pathLst>
          </a:custGeom>
          <a:blipFill>
            <a:blip r:embed="rId2"/>
            <a:stretch>
              <a:fillRect l="-2670" t="-1023" r="-2670"/>
            </a:stretch>
          </a:blipFill>
        </p:spPr>
      </p:sp>
      <p:grpSp>
        <p:nvGrpSpPr>
          <p:cNvPr id="9" name="Group 9"/>
          <p:cNvGrpSpPr/>
          <p:nvPr/>
        </p:nvGrpSpPr>
        <p:grpSpPr>
          <a:xfrm>
            <a:off x="8327115" y="24504"/>
            <a:ext cx="816885" cy="850606"/>
            <a:chOff x="0" y="0"/>
            <a:chExt cx="2595506" cy="2702649"/>
          </a:xfrm>
        </p:grpSpPr>
        <p:sp>
          <p:nvSpPr>
            <p:cNvPr id="10" name="Freeform 10"/>
            <p:cNvSpPr/>
            <p:nvPr/>
          </p:nvSpPr>
          <p:spPr>
            <a:xfrm>
              <a:off x="13484" y="14041"/>
              <a:ext cx="2568427" cy="2674453"/>
            </a:xfrm>
            <a:custGeom>
              <a:avLst/>
              <a:gdLst/>
              <a:ahLst/>
              <a:cxnLst/>
              <a:rect l="l" t="t" r="r" b="b"/>
              <a:pathLst>
                <a:path w="2568427" h="2674453">
                  <a:moveTo>
                    <a:pt x="0" y="1337226"/>
                  </a:moveTo>
                  <a:cubicBezTo>
                    <a:pt x="0" y="598691"/>
                    <a:pt x="574957" y="0"/>
                    <a:pt x="1284214" y="0"/>
                  </a:cubicBezTo>
                  <a:cubicBezTo>
                    <a:pt x="1993471" y="0"/>
                    <a:pt x="2568427" y="598691"/>
                    <a:pt x="2568427" y="1337226"/>
                  </a:cubicBezTo>
                  <a:cubicBezTo>
                    <a:pt x="2568427" y="2075761"/>
                    <a:pt x="1993471" y="2674453"/>
                    <a:pt x="1284214" y="2674453"/>
                  </a:cubicBezTo>
                  <a:cubicBezTo>
                    <a:pt x="574957" y="2674453"/>
                    <a:pt x="0" y="2075902"/>
                    <a:pt x="0" y="1337226"/>
                  </a:cubicBezTo>
                  <a:close/>
                </a:path>
              </a:pathLst>
            </a:custGeom>
            <a:solidFill>
              <a:srgbClr val="EEEEEE"/>
            </a:solidFill>
          </p:spPr>
        </p:sp>
        <p:sp>
          <p:nvSpPr>
            <p:cNvPr id="11" name="Freeform 11"/>
            <p:cNvSpPr/>
            <p:nvPr/>
          </p:nvSpPr>
          <p:spPr>
            <a:xfrm>
              <a:off x="0" y="0"/>
              <a:ext cx="2595395" cy="2702534"/>
            </a:xfrm>
            <a:custGeom>
              <a:avLst/>
              <a:gdLst/>
              <a:ahLst/>
              <a:cxnLst/>
              <a:rect l="l" t="t" r="r" b="b"/>
              <a:pathLst>
                <a:path w="2595395" h="2702534">
                  <a:moveTo>
                    <a:pt x="0" y="1351267"/>
                  </a:moveTo>
                  <a:cubicBezTo>
                    <a:pt x="0" y="605009"/>
                    <a:pt x="581024" y="0"/>
                    <a:pt x="1297698" y="0"/>
                  </a:cubicBezTo>
                  <a:lnTo>
                    <a:pt x="1297698" y="14041"/>
                  </a:lnTo>
                  <a:lnTo>
                    <a:pt x="1297698" y="0"/>
                  </a:lnTo>
                  <a:cubicBezTo>
                    <a:pt x="2014371" y="0"/>
                    <a:pt x="2595395" y="605009"/>
                    <a:pt x="2595395" y="1351267"/>
                  </a:cubicBezTo>
                  <a:lnTo>
                    <a:pt x="2581911" y="1351267"/>
                  </a:lnTo>
                  <a:lnTo>
                    <a:pt x="2595395" y="1351267"/>
                  </a:lnTo>
                  <a:cubicBezTo>
                    <a:pt x="2595395" y="2097525"/>
                    <a:pt x="2014371" y="2702534"/>
                    <a:pt x="1297698" y="2702534"/>
                  </a:cubicBezTo>
                  <a:lnTo>
                    <a:pt x="1297698" y="2688494"/>
                  </a:lnTo>
                  <a:lnTo>
                    <a:pt x="1297698" y="2702534"/>
                  </a:lnTo>
                  <a:cubicBezTo>
                    <a:pt x="581024" y="2702672"/>
                    <a:pt x="0" y="2097665"/>
                    <a:pt x="0" y="1351267"/>
                  </a:cubicBezTo>
                  <a:lnTo>
                    <a:pt x="13484" y="1351267"/>
                  </a:lnTo>
                  <a:lnTo>
                    <a:pt x="26968" y="1351267"/>
                  </a:lnTo>
                  <a:lnTo>
                    <a:pt x="13484" y="1351267"/>
                  </a:lnTo>
                  <a:lnTo>
                    <a:pt x="0" y="1351267"/>
                  </a:lnTo>
                  <a:moveTo>
                    <a:pt x="26968" y="1351267"/>
                  </a:moveTo>
                  <a:cubicBezTo>
                    <a:pt x="26968" y="1358989"/>
                    <a:pt x="20900" y="1365308"/>
                    <a:pt x="13484" y="1365308"/>
                  </a:cubicBezTo>
                  <a:cubicBezTo>
                    <a:pt x="6068" y="1365308"/>
                    <a:pt x="0" y="1358989"/>
                    <a:pt x="0" y="1351267"/>
                  </a:cubicBezTo>
                  <a:cubicBezTo>
                    <a:pt x="0" y="1343545"/>
                    <a:pt x="6068" y="1337227"/>
                    <a:pt x="13484" y="1337227"/>
                  </a:cubicBezTo>
                  <a:cubicBezTo>
                    <a:pt x="20900" y="1337227"/>
                    <a:pt x="26968" y="1343545"/>
                    <a:pt x="26968" y="1351267"/>
                  </a:cubicBezTo>
                  <a:cubicBezTo>
                    <a:pt x="26968" y="2082080"/>
                    <a:pt x="595857" y="2674453"/>
                    <a:pt x="1297698" y="2674453"/>
                  </a:cubicBezTo>
                  <a:cubicBezTo>
                    <a:pt x="1999538" y="2674453"/>
                    <a:pt x="2568427" y="2082080"/>
                    <a:pt x="2568427" y="1351267"/>
                  </a:cubicBezTo>
                  <a:cubicBezTo>
                    <a:pt x="2568427" y="620454"/>
                    <a:pt x="1999538" y="28081"/>
                    <a:pt x="1297698" y="28081"/>
                  </a:cubicBezTo>
                  <a:lnTo>
                    <a:pt x="1297698" y="14041"/>
                  </a:lnTo>
                  <a:lnTo>
                    <a:pt x="1297698" y="28081"/>
                  </a:lnTo>
                  <a:cubicBezTo>
                    <a:pt x="595857" y="28081"/>
                    <a:pt x="26968" y="620454"/>
                    <a:pt x="26968" y="1351267"/>
                  </a:cubicBezTo>
                  <a:close/>
                </a:path>
              </a:pathLst>
            </a:custGeom>
            <a:solidFill>
              <a:srgbClr val="595959"/>
            </a:solidFill>
          </p:spPr>
        </p:sp>
        <p:sp>
          <p:nvSpPr>
            <p:cNvPr id="12" name="TextBox 12"/>
            <p:cNvSpPr txBox="1"/>
            <p:nvPr/>
          </p:nvSpPr>
          <p:spPr>
            <a:xfrm>
              <a:off x="0" y="-38100"/>
              <a:ext cx="2595506" cy="2740749"/>
            </a:xfrm>
            <a:prstGeom prst="rect">
              <a:avLst/>
            </a:prstGeom>
          </p:spPr>
          <p:txBody>
            <a:bodyPr lIns="21318" tIns="21318" rIns="21318" bIns="21318" rtlCol="0" anchor="ctr"/>
            <a:lstStyle/>
            <a:p>
              <a:pPr algn="ctr">
                <a:lnSpc>
                  <a:spcPts val="2014"/>
                </a:lnSpc>
              </a:pPr>
              <a:r>
                <a:rPr lang="en-US" sz="1678">
                  <a:solidFill>
                    <a:srgbClr val="000000"/>
                  </a:solidFill>
                  <a:latin typeface="Times New Roman MT"/>
                  <a:ea typeface="Times New Roman MT"/>
                  <a:cs typeface="Times New Roman MT"/>
                  <a:sym typeface="Times New Roman MT"/>
                </a:rPr>
                <a:t>15</a:t>
              </a:r>
            </a:p>
          </p:txBody>
        </p:sp>
      </p:grpSp>
      <p:sp>
        <p:nvSpPr>
          <p:cNvPr id="13" name="Freeform 13"/>
          <p:cNvSpPr/>
          <p:nvPr/>
        </p:nvSpPr>
        <p:spPr>
          <a:xfrm>
            <a:off x="3103696" y="869416"/>
            <a:ext cx="3120045" cy="4195019"/>
          </a:xfrm>
          <a:custGeom>
            <a:avLst/>
            <a:gdLst/>
            <a:ahLst/>
            <a:cxnLst/>
            <a:rect l="l" t="t" r="r" b="b"/>
            <a:pathLst>
              <a:path w="3120045" h="4195019">
                <a:moveTo>
                  <a:pt x="0" y="0"/>
                </a:moveTo>
                <a:lnTo>
                  <a:pt x="3120045" y="0"/>
                </a:lnTo>
                <a:lnTo>
                  <a:pt x="3120045" y="4195019"/>
                </a:lnTo>
                <a:lnTo>
                  <a:pt x="0" y="4195019"/>
                </a:lnTo>
                <a:lnTo>
                  <a:pt x="0" y="0"/>
                </a:lnTo>
                <a:close/>
              </a:path>
            </a:pathLst>
          </a:custGeom>
          <a:blipFill>
            <a:blip r:embed="rId3"/>
            <a:stretch>
              <a:fillRect l="-860" t="-860" r="-860" b="-860"/>
            </a:stretch>
          </a:blipFill>
        </p:spPr>
      </p:sp>
      <p:sp>
        <p:nvSpPr>
          <p:cNvPr id="14" name="TextBox 14"/>
          <p:cNvSpPr txBox="1"/>
          <p:nvPr/>
        </p:nvSpPr>
        <p:spPr>
          <a:xfrm>
            <a:off x="2432087" y="154897"/>
            <a:ext cx="4567963" cy="230832"/>
          </a:xfrm>
          <a:prstGeom prst="rect">
            <a:avLst/>
          </a:prstGeom>
        </p:spPr>
        <p:txBody>
          <a:bodyPr wrap="square" lIns="0" tIns="0" rIns="0" bIns="0" rtlCol="0" anchor="t">
            <a:spAutoFit/>
          </a:bodyPr>
          <a:lstStyle/>
          <a:p>
            <a:pPr algn="ctr">
              <a:lnSpc>
                <a:spcPts val="1800"/>
              </a:lnSpc>
              <a:spcBef>
                <a:spcPct val="0"/>
              </a:spcBef>
            </a:pPr>
            <a:r>
              <a:rPr lang="en-US" sz="1500" dirty="0">
                <a:solidFill>
                  <a:srgbClr val="000000"/>
                </a:solidFill>
                <a:latin typeface="Times New Roman MT"/>
                <a:ea typeface="Times New Roman MT"/>
                <a:cs typeface="Times New Roman MT"/>
                <a:sym typeface="Times New Roman MT"/>
              </a:rPr>
              <a:t>B.E.(I.T.) / Sem VIII / MAJOR PROJECT II-2025-26</a:t>
            </a:r>
          </a:p>
        </p:txBody>
      </p:sp>
      <p:sp>
        <p:nvSpPr>
          <p:cNvPr id="15" name="TextBox 15"/>
          <p:cNvSpPr txBox="1"/>
          <p:nvPr/>
        </p:nvSpPr>
        <p:spPr>
          <a:xfrm>
            <a:off x="8918207" y="4882825"/>
            <a:ext cx="152400" cy="171450"/>
          </a:xfrm>
          <a:prstGeom prst="rect">
            <a:avLst/>
          </a:prstGeom>
        </p:spPr>
        <p:txBody>
          <a:bodyPr wrap="none" lIns="0" tIns="0" rIns="0" bIns="0" rtlCol="0" anchor="t">
            <a:spAutoFit/>
          </a:bodyPr>
          <a:lstStyle/>
          <a:p>
            <a:pPr algn="ctr">
              <a:lnSpc>
                <a:spcPts val="1540"/>
              </a:lnSpc>
              <a:spcBef>
                <a:spcPct val="0"/>
              </a:spcBef>
            </a:pPr>
            <a:r>
              <a:rPr lang="en-US" sz="1100">
                <a:solidFill>
                  <a:srgbClr val="000000"/>
                </a:solidFill>
                <a:latin typeface="Canva Sans"/>
                <a:ea typeface="Canva Sans"/>
                <a:cs typeface="Canva Sans"/>
                <a:sym typeface="Canva Sans"/>
              </a:rPr>
              <a:t>8</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9525"/>
            <a:ext cx="9153525" cy="5153025"/>
            <a:chOff x="0" y="0"/>
            <a:chExt cx="24409400" cy="13741400"/>
          </a:xfrm>
        </p:grpSpPr>
        <p:sp>
          <p:nvSpPr>
            <p:cNvPr id="3" name="Freeform 3"/>
            <p:cNvSpPr/>
            <p:nvPr/>
          </p:nvSpPr>
          <p:spPr>
            <a:xfrm>
              <a:off x="12700" y="1270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EEEEE"/>
            </a:solidFill>
          </p:spPr>
        </p:sp>
        <p:sp>
          <p:nvSpPr>
            <p:cNvPr id="4" name="Freeform 4"/>
            <p:cNvSpPr/>
            <p:nvPr/>
          </p:nvSpPr>
          <p:spPr>
            <a:xfrm>
              <a:off x="0" y="0"/>
              <a:ext cx="24409400" cy="13741400"/>
            </a:xfrm>
            <a:custGeom>
              <a:avLst/>
              <a:gdLst/>
              <a:ahLst/>
              <a:cxnLst/>
              <a:rect l="l" t="t" r="r" b="b"/>
              <a:pathLst>
                <a:path w="24409400" h="13741400">
                  <a:moveTo>
                    <a:pt x="12700" y="0"/>
                  </a:moveTo>
                  <a:lnTo>
                    <a:pt x="24396700" y="0"/>
                  </a:lnTo>
                  <a:cubicBezTo>
                    <a:pt x="24403686" y="0"/>
                    <a:pt x="24409400" y="5715"/>
                    <a:pt x="24409400" y="12700"/>
                  </a:cubicBezTo>
                  <a:lnTo>
                    <a:pt x="24409400" y="13728700"/>
                  </a:lnTo>
                  <a:cubicBezTo>
                    <a:pt x="24409400" y="13735686"/>
                    <a:pt x="24403686" y="13741400"/>
                    <a:pt x="24396700" y="13741400"/>
                  </a:cubicBezTo>
                  <a:lnTo>
                    <a:pt x="12700" y="13741400"/>
                  </a:lnTo>
                  <a:cubicBezTo>
                    <a:pt x="5715" y="13741400"/>
                    <a:pt x="0" y="13735686"/>
                    <a:pt x="0" y="13728700"/>
                  </a:cubicBezTo>
                  <a:lnTo>
                    <a:pt x="0" y="12700"/>
                  </a:lnTo>
                  <a:cubicBezTo>
                    <a:pt x="0" y="5715"/>
                    <a:pt x="5715" y="0"/>
                    <a:pt x="12700" y="0"/>
                  </a:cubicBezTo>
                  <a:moveTo>
                    <a:pt x="12700" y="25400"/>
                  </a:moveTo>
                  <a:lnTo>
                    <a:pt x="12700" y="12700"/>
                  </a:lnTo>
                  <a:lnTo>
                    <a:pt x="25400" y="12700"/>
                  </a:lnTo>
                  <a:lnTo>
                    <a:pt x="25400" y="13728700"/>
                  </a:lnTo>
                  <a:lnTo>
                    <a:pt x="12700" y="13728700"/>
                  </a:lnTo>
                  <a:lnTo>
                    <a:pt x="12700" y="13716000"/>
                  </a:lnTo>
                  <a:lnTo>
                    <a:pt x="24396700" y="13716000"/>
                  </a:lnTo>
                  <a:lnTo>
                    <a:pt x="24396700" y="13728700"/>
                  </a:lnTo>
                  <a:lnTo>
                    <a:pt x="24384000" y="13728700"/>
                  </a:lnTo>
                  <a:lnTo>
                    <a:pt x="24384000" y="12700"/>
                  </a:lnTo>
                  <a:lnTo>
                    <a:pt x="24396700" y="12700"/>
                  </a:lnTo>
                  <a:lnTo>
                    <a:pt x="24396700" y="25400"/>
                  </a:lnTo>
                  <a:lnTo>
                    <a:pt x="12700" y="25400"/>
                  </a:lnTo>
                  <a:close/>
                </a:path>
              </a:pathLst>
            </a:custGeom>
            <a:solidFill>
              <a:srgbClr val="595959"/>
            </a:solidFill>
          </p:spPr>
        </p:sp>
      </p:grpSp>
      <p:grpSp>
        <p:nvGrpSpPr>
          <p:cNvPr id="5" name="Group 5"/>
          <p:cNvGrpSpPr/>
          <p:nvPr/>
        </p:nvGrpSpPr>
        <p:grpSpPr>
          <a:xfrm>
            <a:off x="311700" y="445025"/>
            <a:ext cx="8520600" cy="648970"/>
            <a:chOff x="0" y="0"/>
            <a:chExt cx="22721600" cy="1730587"/>
          </a:xfrm>
        </p:grpSpPr>
        <p:sp>
          <p:nvSpPr>
            <p:cNvPr id="6" name="Freeform 6"/>
            <p:cNvSpPr/>
            <p:nvPr/>
          </p:nvSpPr>
          <p:spPr>
            <a:xfrm>
              <a:off x="0" y="0"/>
              <a:ext cx="22721601" cy="1730587"/>
            </a:xfrm>
            <a:custGeom>
              <a:avLst/>
              <a:gdLst/>
              <a:ahLst/>
              <a:cxnLst/>
              <a:rect l="l" t="t" r="r" b="b"/>
              <a:pathLst>
                <a:path w="22721601" h="1730587">
                  <a:moveTo>
                    <a:pt x="0" y="0"/>
                  </a:moveTo>
                  <a:lnTo>
                    <a:pt x="22721601" y="0"/>
                  </a:lnTo>
                  <a:lnTo>
                    <a:pt x="22721601" y="1730587"/>
                  </a:lnTo>
                  <a:lnTo>
                    <a:pt x="0" y="1730587"/>
                  </a:lnTo>
                  <a:close/>
                </a:path>
              </a:pathLst>
            </a:custGeom>
          </p:spPr>
        </p:sp>
        <p:sp>
          <p:nvSpPr>
            <p:cNvPr id="7" name="TextBox 7"/>
            <p:cNvSpPr txBox="1"/>
            <p:nvPr/>
          </p:nvSpPr>
          <p:spPr>
            <a:xfrm>
              <a:off x="0" y="-76200"/>
              <a:ext cx="22721600" cy="1806787"/>
            </a:xfrm>
            <a:prstGeom prst="rect">
              <a:avLst/>
            </a:prstGeom>
          </p:spPr>
          <p:txBody>
            <a:bodyPr lIns="0" tIns="0" rIns="0" bIns="0" rtlCol="0" anchor="t"/>
            <a:lstStyle/>
            <a:p>
              <a:pPr algn="ctr">
                <a:lnSpc>
                  <a:spcPts val="4200"/>
                </a:lnSpc>
              </a:pPr>
              <a:r>
                <a:rPr lang="en-US" sz="3500">
                  <a:solidFill>
                    <a:srgbClr val="000000"/>
                  </a:solidFill>
                  <a:latin typeface="Arial MT Pro"/>
                  <a:ea typeface="Arial MT Pro"/>
                  <a:cs typeface="Arial MT Pro"/>
                  <a:sym typeface="Arial MT Pro"/>
                </a:rPr>
                <a:t>List Of Journals</a:t>
              </a:r>
            </a:p>
          </p:txBody>
        </p:sp>
      </p:grpSp>
      <p:sp>
        <p:nvSpPr>
          <p:cNvPr id="8" name="Freeform 8"/>
          <p:cNvSpPr/>
          <p:nvPr/>
        </p:nvSpPr>
        <p:spPr>
          <a:xfrm>
            <a:off x="0" y="-73840"/>
            <a:ext cx="971943" cy="1013493"/>
          </a:xfrm>
          <a:custGeom>
            <a:avLst/>
            <a:gdLst/>
            <a:ahLst/>
            <a:cxnLst/>
            <a:rect l="l" t="t" r="r" b="b"/>
            <a:pathLst>
              <a:path w="971943" h="1013493">
                <a:moveTo>
                  <a:pt x="0" y="0"/>
                </a:moveTo>
                <a:lnTo>
                  <a:pt x="971943" y="0"/>
                </a:lnTo>
                <a:lnTo>
                  <a:pt x="971943" y="1013493"/>
                </a:lnTo>
                <a:lnTo>
                  <a:pt x="0" y="1013493"/>
                </a:lnTo>
                <a:lnTo>
                  <a:pt x="0" y="0"/>
                </a:lnTo>
                <a:close/>
              </a:path>
            </a:pathLst>
          </a:custGeom>
          <a:blipFill>
            <a:blip r:embed="rId2"/>
            <a:stretch>
              <a:fillRect l="-2670" t="-1023" r="-2670"/>
            </a:stretch>
          </a:blipFill>
        </p:spPr>
      </p:sp>
      <p:grpSp>
        <p:nvGrpSpPr>
          <p:cNvPr id="9" name="Group 9"/>
          <p:cNvGrpSpPr/>
          <p:nvPr/>
        </p:nvGrpSpPr>
        <p:grpSpPr>
          <a:xfrm>
            <a:off x="8327115" y="89047"/>
            <a:ext cx="816885" cy="850606"/>
            <a:chOff x="0" y="0"/>
            <a:chExt cx="2595506" cy="2702649"/>
          </a:xfrm>
        </p:grpSpPr>
        <p:sp>
          <p:nvSpPr>
            <p:cNvPr id="10" name="Freeform 10"/>
            <p:cNvSpPr/>
            <p:nvPr/>
          </p:nvSpPr>
          <p:spPr>
            <a:xfrm>
              <a:off x="13484" y="14041"/>
              <a:ext cx="2568427" cy="2674453"/>
            </a:xfrm>
            <a:custGeom>
              <a:avLst/>
              <a:gdLst/>
              <a:ahLst/>
              <a:cxnLst/>
              <a:rect l="l" t="t" r="r" b="b"/>
              <a:pathLst>
                <a:path w="2568427" h="2674453">
                  <a:moveTo>
                    <a:pt x="0" y="1337226"/>
                  </a:moveTo>
                  <a:cubicBezTo>
                    <a:pt x="0" y="598691"/>
                    <a:pt x="574957" y="0"/>
                    <a:pt x="1284214" y="0"/>
                  </a:cubicBezTo>
                  <a:cubicBezTo>
                    <a:pt x="1993471" y="0"/>
                    <a:pt x="2568427" y="598691"/>
                    <a:pt x="2568427" y="1337226"/>
                  </a:cubicBezTo>
                  <a:cubicBezTo>
                    <a:pt x="2568427" y="2075761"/>
                    <a:pt x="1993471" y="2674453"/>
                    <a:pt x="1284214" y="2674453"/>
                  </a:cubicBezTo>
                  <a:cubicBezTo>
                    <a:pt x="574957" y="2674453"/>
                    <a:pt x="0" y="2075902"/>
                    <a:pt x="0" y="1337226"/>
                  </a:cubicBezTo>
                  <a:close/>
                </a:path>
              </a:pathLst>
            </a:custGeom>
            <a:solidFill>
              <a:srgbClr val="EEEEEE"/>
            </a:solidFill>
          </p:spPr>
        </p:sp>
        <p:sp>
          <p:nvSpPr>
            <p:cNvPr id="11" name="Freeform 11"/>
            <p:cNvSpPr/>
            <p:nvPr/>
          </p:nvSpPr>
          <p:spPr>
            <a:xfrm>
              <a:off x="0" y="0"/>
              <a:ext cx="2595395" cy="2702534"/>
            </a:xfrm>
            <a:custGeom>
              <a:avLst/>
              <a:gdLst/>
              <a:ahLst/>
              <a:cxnLst/>
              <a:rect l="l" t="t" r="r" b="b"/>
              <a:pathLst>
                <a:path w="2595395" h="2702534">
                  <a:moveTo>
                    <a:pt x="0" y="1351267"/>
                  </a:moveTo>
                  <a:cubicBezTo>
                    <a:pt x="0" y="605009"/>
                    <a:pt x="581024" y="0"/>
                    <a:pt x="1297698" y="0"/>
                  </a:cubicBezTo>
                  <a:lnTo>
                    <a:pt x="1297698" y="14041"/>
                  </a:lnTo>
                  <a:lnTo>
                    <a:pt x="1297698" y="0"/>
                  </a:lnTo>
                  <a:cubicBezTo>
                    <a:pt x="2014371" y="0"/>
                    <a:pt x="2595395" y="605009"/>
                    <a:pt x="2595395" y="1351267"/>
                  </a:cubicBezTo>
                  <a:lnTo>
                    <a:pt x="2581911" y="1351267"/>
                  </a:lnTo>
                  <a:lnTo>
                    <a:pt x="2595395" y="1351267"/>
                  </a:lnTo>
                  <a:cubicBezTo>
                    <a:pt x="2595395" y="2097525"/>
                    <a:pt x="2014371" y="2702534"/>
                    <a:pt x="1297698" y="2702534"/>
                  </a:cubicBezTo>
                  <a:lnTo>
                    <a:pt x="1297698" y="2688494"/>
                  </a:lnTo>
                  <a:lnTo>
                    <a:pt x="1297698" y="2702534"/>
                  </a:lnTo>
                  <a:cubicBezTo>
                    <a:pt x="581024" y="2702672"/>
                    <a:pt x="0" y="2097665"/>
                    <a:pt x="0" y="1351267"/>
                  </a:cubicBezTo>
                  <a:lnTo>
                    <a:pt x="13484" y="1351267"/>
                  </a:lnTo>
                  <a:lnTo>
                    <a:pt x="26968" y="1351267"/>
                  </a:lnTo>
                  <a:lnTo>
                    <a:pt x="13484" y="1351267"/>
                  </a:lnTo>
                  <a:lnTo>
                    <a:pt x="0" y="1351267"/>
                  </a:lnTo>
                  <a:moveTo>
                    <a:pt x="26968" y="1351267"/>
                  </a:moveTo>
                  <a:cubicBezTo>
                    <a:pt x="26968" y="1358989"/>
                    <a:pt x="20900" y="1365308"/>
                    <a:pt x="13484" y="1365308"/>
                  </a:cubicBezTo>
                  <a:cubicBezTo>
                    <a:pt x="6068" y="1365308"/>
                    <a:pt x="0" y="1358989"/>
                    <a:pt x="0" y="1351267"/>
                  </a:cubicBezTo>
                  <a:cubicBezTo>
                    <a:pt x="0" y="1343545"/>
                    <a:pt x="6068" y="1337227"/>
                    <a:pt x="13484" y="1337227"/>
                  </a:cubicBezTo>
                  <a:cubicBezTo>
                    <a:pt x="20900" y="1337227"/>
                    <a:pt x="26968" y="1343545"/>
                    <a:pt x="26968" y="1351267"/>
                  </a:cubicBezTo>
                  <a:cubicBezTo>
                    <a:pt x="26968" y="2082080"/>
                    <a:pt x="595857" y="2674453"/>
                    <a:pt x="1297698" y="2674453"/>
                  </a:cubicBezTo>
                  <a:cubicBezTo>
                    <a:pt x="1999538" y="2674453"/>
                    <a:pt x="2568427" y="2082080"/>
                    <a:pt x="2568427" y="1351267"/>
                  </a:cubicBezTo>
                  <a:cubicBezTo>
                    <a:pt x="2568427" y="620454"/>
                    <a:pt x="1999538" y="28081"/>
                    <a:pt x="1297698" y="28081"/>
                  </a:cubicBezTo>
                  <a:lnTo>
                    <a:pt x="1297698" y="14041"/>
                  </a:lnTo>
                  <a:lnTo>
                    <a:pt x="1297698" y="28081"/>
                  </a:lnTo>
                  <a:cubicBezTo>
                    <a:pt x="595857" y="28081"/>
                    <a:pt x="26968" y="620454"/>
                    <a:pt x="26968" y="1351267"/>
                  </a:cubicBezTo>
                  <a:close/>
                </a:path>
              </a:pathLst>
            </a:custGeom>
            <a:solidFill>
              <a:srgbClr val="595959"/>
            </a:solidFill>
          </p:spPr>
        </p:sp>
        <p:sp>
          <p:nvSpPr>
            <p:cNvPr id="12" name="TextBox 12"/>
            <p:cNvSpPr txBox="1"/>
            <p:nvPr/>
          </p:nvSpPr>
          <p:spPr>
            <a:xfrm>
              <a:off x="0" y="-38100"/>
              <a:ext cx="2595506" cy="2740749"/>
            </a:xfrm>
            <a:prstGeom prst="rect">
              <a:avLst/>
            </a:prstGeom>
          </p:spPr>
          <p:txBody>
            <a:bodyPr lIns="21318" tIns="21318" rIns="21318" bIns="21318" rtlCol="0" anchor="ctr"/>
            <a:lstStyle/>
            <a:p>
              <a:pPr algn="ctr">
                <a:lnSpc>
                  <a:spcPts val="2014"/>
                </a:lnSpc>
              </a:pPr>
              <a:r>
                <a:rPr lang="en-US" sz="1678">
                  <a:solidFill>
                    <a:srgbClr val="000000"/>
                  </a:solidFill>
                  <a:latin typeface="Times New Roman MT"/>
                  <a:ea typeface="Times New Roman MT"/>
                  <a:cs typeface="Times New Roman MT"/>
                  <a:sym typeface="Times New Roman MT"/>
                </a:rPr>
                <a:t>15</a:t>
              </a:r>
            </a:p>
          </p:txBody>
        </p:sp>
      </p:grpSp>
      <p:graphicFrame>
        <p:nvGraphicFramePr>
          <p:cNvPr id="13" name="Table 13"/>
          <p:cNvGraphicFramePr>
            <a:graphicFrameLocks noGrp="1"/>
          </p:cNvGraphicFramePr>
          <p:nvPr/>
        </p:nvGraphicFramePr>
        <p:xfrm>
          <a:off x="386745" y="1167955"/>
          <a:ext cx="8445555" cy="3815200"/>
        </p:xfrm>
        <a:graphic>
          <a:graphicData uri="http://schemas.openxmlformats.org/drawingml/2006/table">
            <a:tbl>
              <a:tblPr/>
              <a:tblGrid>
                <a:gridCol w="2945983">
                  <a:extLst>
                    <a:ext uri="{9D8B030D-6E8A-4147-A177-3AD203B41FA5}">
                      <a16:colId xmlns:a16="http://schemas.microsoft.com/office/drawing/2014/main" val="20000"/>
                    </a:ext>
                  </a:extLst>
                </a:gridCol>
                <a:gridCol w="2810727">
                  <a:extLst>
                    <a:ext uri="{9D8B030D-6E8A-4147-A177-3AD203B41FA5}">
                      <a16:colId xmlns:a16="http://schemas.microsoft.com/office/drawing/2014/main" val="20001"/>
                    </a:ext>
                  </a:extLst>
                </a:gridCol>
                <a:gridCol w="2688845">
                  <a:extLst>
                    <a:ext uri="{9D8B030D-6E8A-4147-A177-3AD203B41FA5}">
                      <a16:colId xmlns:a16="http://schemas.microsoft.com/office/drawing/2014/main" val="20002"/>
                    </a:ext>
                  </a:extLst>
                </a:gridCol>
              </a:tblGrid>
              <a:tr h="813156">
                <a:tc>
                  <a:txBody>
                    <a:bodyPr/>
                    <a:lstStyle/>
                    <a:p>
                      <a:pPr algn="ctr">
                        <a:lnSpc>
                          <a:spcPts val="2379"/>
                        </a:lnSpc>
                        <a:defRPr/>
                      </a:pPr>
                      <a:r>
                        <a:rPr lang="en-US" sz="1699">
                          <a:solidFill>
                            <a:srgbClr val="000000"/>
                          </a:solidFill>
                          <a:latin typeface="Arial MT Pro"/>
                          <a:ea typeface="Arial MT Pro"/>
                          <a:cs typeface="Arial MT Pro"/>
                          <a:sym typeface="Arial MT Pro"/>
                        </a:rPr>
                        <a:t>Name Of Journals</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2379"/>
                        </a:lnSpc>
                        <a:defRPr/>
                      </a:pPr>
                      <a:r>
                        <a:rPr lang="en-US" sz="1699">
                          <a:solidFill>
                            <a:srgbClr val="000000"/>
                          </a:solidFill>
                          <a:latin typeface="Arial MT Pro"/>
                          <a:ea typeface="Arial MT Pro"/>
                          <a:cs typeface="Arial MT Pro"/>
                          <a:sym typeface="Arial MT Pro"/>
                        </a:rPr>
                        <a:t>Impact factor</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1819"/>
                        </a:lnSpc>
                        <a:defRPr/>
                      </a:pPr>
                      <a:r>
                        <a:rPr lang="en-US" sz="1299" b="1">
                          <a:solidFill>
                            <a:srgbClr val="000000"/>
                          </a:solidFill>
                          <a:latin typeface="Arial MT Pro Bold"/>
                          <a:ea typeface="Arial MT Pro Bold"/>
                          <a:cs typeface="Arial MT Pro Bold"/>
                          <a:sym typeface="Arial MT Pro Bold"/>
                        </a:rPr>
                        <a:t>Link </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712906">
                <a:tc>
                  <a:txBody>
                    <a:bodyPr/>
                    <a:lstStyle/>
                    <a:p>
                      <a:pPr algn="ctr">
                        <a:lnSpc>
                          <a:spcPts val="1819"/>
                        </a:lnSpc>
                        <a:defRPr/>
                      </a:pPr>
                      <a:r>
                        <a:rPr lang="en-US" sz="1299" dirty="0">
                          <a:solidFill>
                            <a:srgbClr val="000000"/>
                          </a:solidFill>
                          <a:latin typeface="Arial MT Pro"/>
                          <a:ea typeface="Arial MT Pro"/>
                          <a:cs typeface="Arial MT Pro"/>
                          <a:sym typeface="Arial MT Pro"/>
                        </a:rPr>
                        <a:t>IEEE Access</a:t>
                      </a:r>
                      <a:endParaRPr lang="en-US" sz="1100" dirty="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1819"/>
                        </a:lnSpc>
                        <a:defRPr/>
                      </a:pPr>
                      <a:r>
                        <a:rPr lang="en-US" sz="1299" dirty="0">
                          <a:solidFill>
                            <a:srgbClr val="000000"/>
                          </a:solidFill>
                          <a:latin typeface="Arial MT Pro"/>
                          <a:ea typeface="Arial MT Pro"/>
                          <a:cs typeface="Arial MT Pro"/>
                          <a:sym typeface="Arial MT Pro"/>
                        </a:rPr>
                        <a:t> 3.6 (JCR)</a:t>
                      </a:r>
                      <a:endParaRPr lang="en-US" sz="1100" dirty="0"/>
                    </a:p>
                    <a:p>
                      <a:pPr algn="ctr">
                        <a:lnSpc>
                          <a:spcPts val="1819"/>
                        </a:lnSpc>
                      </a:pPr>
                      <a:endParaRPr lang="en-US" sz="1100" dirty="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1399"/>
                        </a:lnSpc>
                        <a:defRPr/>
                      </a:pPr>
                      <a:r>
                        <a:rPr lang="en-US" sz="999" u="sng">
                          <a:solidFill>
                            <a:srgbClr val="000000"/>
                          </a:solidFill>
                          <a:latin typeface="Arial MT Pro"/>
                          <a:ea typeface="Arial MT Pro"/>
                          <a:cs typeface="Arial MT Pro"/>
                          <a:sym typeface="Arial MT Pro"/>
                          <a:hlinkClick r:id="rId3" tooltip="https://ieeeaccess.ieee.org"/>
                        </a:rPr>
                        <a:t>https://ieeeaccess.ieee.org/</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508190">
                <a:tc>
                  <a:txBody>
                    <a:bodyPr/>
                    <a:lstStyle/>
                    <a:p>
                      <a:pPr algn="ctr">
                        <a:lnSpc>
                          <a:spcPts val="1819"/>
                        </a:lnSpc>
                        <a:defRPr/>
                      </a:pPr>
                      <a:r>
                        <a:rPr lang="en-US" sz="1299">
                          <a:solidFill>
                            <a:srgbClr val="000000"/>
                          </a:solidFill>
                          <a:latin typeface="Arial MT Pro"/>
                          <a:ea typeface="Arial MT Pro"/>
                          <a:cs typeface="Arial MT Pro"/>
                          <a:sym typeface="Arial MT Pro"/>
                        </a:rPr>
                        <a:t>TIJER Research Journal</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1819"/>
                        </a:lnSpc>
                        <a:defRPr/>
                      </a:pPr>
                      <a:r>
                        <a:rPr lang="en-US" sz="1299">
                          <a:solidFill>
                            <a:srgbClr val="000000"/>
                          </a:solidFill>
                          <a:latin typeface="Arial MT Pro"/>
                          <a:ea typeface="Arial MT Pro"/>
                          <a:cs typeface="Arial MT Pro"/>
                          <a:sym typeface="Arial MT Pro"/>
                        </a:rPr>
                        <a:t> 8.57</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1399"/>
                        </a:lnSpc>
                        <a:defRPr/>
                      </a:pPr>
                      <a:r>
                        <a:rPr lang="en-US" sz="999" u="sng">
                          <a:solidFill>
                            <a:srgbClr val="000000"/>
                          </a:solidFill>
                          <a:latin typeface="Arial MT Pro"/>
                          <a:ea typeface="Arial MT Pro"/>
                          <a:cs typeface="Arial MT Pro"/>
                          <a:sym typeface="Arial MT Pro"/>
                          <a:hlinkClick r:id="rId4" tooltip="https://tijer.org/tijer/"/>
                        </a:rPr>
                        <a:t>https://tijer.org/tijer/</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64999">
                <a:tc>
                  <a:txBody>
                    <a:bodyPr/>
                    <a:lstStyle/>
                    <a:p>
                      <a:pPr algn="ctr">
                        <a:lnSpc>
                          <a:spcPts val="1819"/>
                        </a:lnSpc>
                        <a:defRPr/>
                      </a:pPr>
                      <a:r>
                        <a:rPr lang="en-US" sz="1299" dirty="0">
                          <a:solidFill>
                            <a:srgbClr val="000000"/>
                          </a:solidFill>
                          <a:latin typeface="Arial MT Pro"/>
                          <a:ea typeface="Arial MT Pro"/>
                          <a:cs typeface="Arial MT Pro"/>
                          <a:sym typeface="Arial MT Pro"/>
                        </a:rPr>
                        <a:t>JNRID Research Journal</a:t>
                      </a:r>
                      <a:endParaRPr lang="en-US" sz="1100" dirty="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1819"/>
                        </a:lnSpc>
                        <a:defRPr/>
                      </a:pPr>
                      <a:r>
                        <a:rPr lang="en-US" sz="1299">
                          <a:solidFill>
                            <a:srgbClr val="000000"/>
                          </a:solidFill>
                          <a:latin typeface="Arial MT Pro"/>
                          <a:ea typeface="Arial MT Pro"/>
                          <a:cs typeface="Arial MT Pro"/>
                          <a:sym typeface="Arial MT Pro"/>
                        </a:rPr>
                        <a:t> 9.57</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1399"/>
                        </a:lnSpc>
                        <a:defRPr/>
                      </a:pPr>
                      <a:r>
                        <a:rPr lang="en-US" sz="999" u="sng">
                          <a:solidFill>
                            <a:srgbClr val="000000"/>
                          </a:solidFill>
                          <a:latin typeface="Arial MT Pro"/>
                          <a:ea typeface="Arial MT Pro"/>
                          <a:cs typeface="Arial MT Pro"/>
                          <a:sym typeface="Arial MT Pro"/>
                          <a:hlinkClick r:id="rId5" tooltip="https://tijer.org/jnrid/"/>
                        </a:rPr>
                        <a:t>https://tijer.org/jnrid/</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564999">
                <a:tc>
                  <a:txBody>
                    <a:bodyPr/>
                    <a:lstStyle/>
                    <a:p>
                      <a:pPr algn="ctr">
                        <a:lnSpc>
                          <a:spcPts val="1819"/>
                        </a:lnSpc>
                        <a:defRPr/>
                      </a:pPr>
                      <a:r>
                        <a:rPr lang="en-US" sz="1299">
                          <a:solidFill>
                            <a:srgbClr val="000000"/>
                          </a:solidFill>
                          <a:latin typeface="Arial MT Pro"/>
                          <a:ea typeface="Arial MT Pro"/>
                          <a:cs typeface="Arial MT Pro"/>
                          <a:sym typeface="Arial MT Pro"/>
                        </a:rPr>
                        <a:t>RJPN – IJ Publication</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1819"/>
                        </a:lnSpc>
                        <a:defRPr/>
                      </a:pPr>
                      <a:r>
                        <a:rPr lang="en-US" sz="1299">
                          <a:solidFill>
                            <a:srgbClr val="000000"/>
                          </a:solidFill>
                          <a:latin typeface="Arial MT Pro"/>
                          <a:ea typeface="Arial MT Pro"/>
                          <a:cs typeface="Arial MT Pro"/>
                          <a:sym typeface="Arial MT Pro"/>
                        </a:rPr>
                        <a:t>7.37</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1399"/>
                        </a:lnSpc>
                        <a:defRPr/>
                      </a:pPr>
                      <a:r>
                        <a:rPr lang="en-US" sz="999" u="sng">
                          <a:solidFill>
                            <a:srgbClr val="000000"/>
                          </a:solidFill>
                          <a:latin typeface="Arial MT Pro"/>
                          <a:ea typeface="Arial MT Pro"/>
                          <a:cs typeface="Arial MT Pro"/>
                          <a:sym typeface="Arial MT Pro"/>
                          <a:hlinkClick r:id="rId6" tooltip="https://tijer.org/ijedr/submitpaper.php"/>
                        </a:rPr>
                        <a:t>https://tijer.org/ijedr/submitpaper.php</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650950">
                <a:tc>
                  <a:txBody>
                    <a:bodyPr/>
                    <a:lstStyle/>
                    <a:p>
                      <a:pPr algn="ctr">
                        <a:lnSpc>
                          <a:spcPts val="1819"/>
                        </a:lnSpc>
                        <a:defRPr/>
                      </a:pPr>
                      <a:r>
                        <a:rPr lang="en-US" sz="1299">
                          <a:solidFill>
                            <a:srgbClr val="000000"/>
                          </a:solidFill>
                          <a:latin typeface="Arial MT Pro"/>
                          <a:ea typeface="Arial MT Pro"/>
                          <a:cs typeface="Arial MT Pro"/>
                          <a:sym typeface="Arial MT Pro"/>
                        </a:rPr>
                        <a:t>ACM Transactions on Information Systems (TOIS)</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1819"/>
                        </a:lnSpc>
                        <a:defRPr/>
                      </a:pPr>
                      <a:r>
                        <a:rPr lang="en-US" sz="1299">
                          <a:solidFill>
                            <a:srgbClr val="000000"/>
                          </a:solidFill>
                          <a:latin typeface="Arial MT Pro"/>
                          <a:ea typeface="Arial MT Pro"/>
                          <a:cs typeface="Arial MT Pro"/>
                          <a:sym typeface="Arial MT Pro"/>
                        </a:rPr>
                        <a:t>9.1</a:t>
                      </a:r>
                      <a:endParaRPr lang="en-US" sz="110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tc>
                  <a:txBody>
                    <a:bodyPr/>
                    <a:lstStyle/>
                    <a:p>
                      <a:pPr algn="ctr">
                        <a:lnSpc>
                          <a:spcPts val="1399"/>
                        </a:lnSpc>
                        <a:defRPr/>
                      </a:pPr>
                      <a:r>
                        <a:rPr lang="en-US" sz="999" u="sng" dirty="0">
                          <a:solidFill>
                            <a:srgbClr val="000000"/>
                          </a:solidFill>
                          <a:latin typeface="Arial MT Pro"/>
                          <a:ea typeface="Arial MT Pro"/>
                          <a:cs typeface="Arial MT Pro"/>
                          <a:sym typeface="Arial MT Pro"/>
                          <a:hlinkClick r:id="rId7" tooltip="https://dl.acm.org/journal/tois"/>
                        </a:rPr>
                        <a:t>https://dl.acm.org/journal/tois</a:t>
                      </a:r>
                      <a:endParaRPr lang="en-US" sz="1100" dirty="0"/>
                    </a:p>
                  </a:txBody>
                  <a:tcPr marL="76200" marR="76200" marT="76200" marB="76200" anchor="ctr">
                    <a:lnL w="19050" cap="flat" cmpd="sng" algn="ctr">
                      <a:solidFill>
                        <a:srgbClr val="000000"/>
                      </a:solidFill>
                      <a:prstDash val="solid"/>
                      <a:round/>
                      <a:headEnd type="none" w="med" len="med"/>
                      <a:tailEnd type="none" w="med" len="med"/>
                    </a:lnL>
                    <a:lnR w="19050" cap="flat" cmpd="sng" algn="ctr">
                      <a:solidFill>
                        <a:srgbClr val="000000"/>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14" name="TextBox 14"/>
          <p:cNvSpPr txBox="1"/>
          <p:nvPr/>
        </p:nvSpPr>
        <p:spPr>
          <a:xfrm>
            <a:off x="2413424" y="38045"/>
            <a:ext cx="4530015" cy="230832"/>
          </a:xfrm>
          <a:prstGeom prst="rect">
            <a:avLst/>
          </a:prstGeom>
        </p:spPr>
        <p:txBody>
          <a:bodyPr wrap="square" lIns="0" tIns="0" rIns="0" bIns="0" rtlCol="0" anchor="t">
            <a:spAutoFit/>
          </a:bodyPr>
          <a:lstStyle/>
          <a:p>
            <a:pPr algn="ctr">
              <a:lnSpc>
                <a:spcPts val="1800"/>
              </a:lnSpc>
              <a:spcBef>
                <a:spcPct val="0"/>
              </a:spcBef>
            </a:pPr>
            <a:r>
              <a:rPr lang="en-US" sz="1500" dirty="0">
                <a:solidFill>
                  <a:srgbClr val="000000"/>
                </a:solidFill>
                <a:latin typeface="Times New Roman MT"/>
                <a:ea typeface="Times New Roman MT"/>
                <a:cs typeface="Times New Roman MT"/>
                <a:sym typeface="Times New Roman MT"/>
              </a:rPr>
              <a:t>B.E.(I.T.) / Sem VIII / MAJOR PROJECT II-2025-26</a:t>
            </a:r>
          </a:p>
        </p:txBody>
      </p:sp>
      <p:sp>
        <p:nvSpPr>
          <p:cNvPr id="15" name="TextBox 15"/>
          <p:cNvSpPr txBox="1"/>
          <p:nvPr/>
        </p:nvSpPr>
        <p:spPr>
          <a:xfrm>
            <a:off x="8918207" y="4882825"/>
            <a:ext cx="152400" cy="171450"/>
          </a:xfrm>
          <a:prstGeom prst="rect">
            <a:avLst/>
          </a:prstGeom>
        </p:spPr>
        <p:txBody>
          <a:bodyPr wrap="none" lIns="0" tIns="0" rIns="0" bIns="0" rtlCol="0" anchor="t">
            <a:spAutoFit/>
          </a:bodyPr>
          <a:lstStyle/>
          <a:p>
            <a:pPr algn="ctr">
              <a:lnSpc>
                <a:spcPts val="1540"/>
              </a:lnSpc>
              <a:spcBef>
                <a:spcPct val="0"/>
              </a:spcBef>
            </a:pPr>
            <a:r>
              <a:rPr lang="en-US" sz="1100">
                <a:solidFill>
                  <a:srgbClr val="000000"/>
                </a:solidFill>
                <a:latin typeface="Canva Sans"/>
                <a:ea typeface="Canva Sans"/>
                <a:cs typeface="Canva Sans"/>
                <a:sym typeface="Canva Sans"/>
              </a:rPr>
              <a:t>9</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25155"/>
            <a:ext cx="9153525" cy="5153025"/>
            <a:chOff x="0" y="0"/>
            <a:chExt cx="24409400" cy="13741400"/>
          </a:xfrm>
        </p:grpSpPr>
        <p:sp>
          <p:nvSpPr>
            <p:cNvPr id="3" name="Freeform 3"/>
            <p:cNvSpPr/>
            <p:nvPr/>
          </p:nvSpPr>
          <p:spPr>
            <a:xfrm>
              <a:off x="12700" y="1270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EEEEE"/>
            </a:solidFill>
          </p:spPr>
        </p:sp>
        <p:sp>
          <p:nvSpPr>
            <p:cNvPr id="4" name="Freeform 4"/>
            <p:cNvSpPr/>
            <p:nvPr/>
          </p:nvSpPr>
          <p:spPr>
            <a:xfrm>
              <a:off x="0" y="0"/>
              <a:ext cx="24409400" cy="13741400"/>
            </a:xfrm>
            <a:custGeom>
              <a:avLst/>
              <a:gdLst/>
              <a:ahLst/>
              <a:cxnLst/>
              <a:rect l="l" t="t" r="r" b="b"/>
              <a:pathLst>
                <a:path w="24409400" h="13741400">
                  <a:moveTo>
                    <a:pt x="12700" y="0"/>
                  </a:moveTo>
                  <a:lnTo>
                    <a:pt x="24396700" y="0"/>
                  </a:lnTo>
                  <a:cubicBezTo>
                    <a:pt x="24403686" y="0"/>
                    <a:pt x="24409400" y="5715"/>
                    <a:pt x="24409400" y="12700"/>
                  </a:cubicBezTo>
                  <a:lnTo>
                    <a:pt x="24409400" y="13728700"/>
                  </a:lnTo>
                  <a:cubicBezTo>
                    <a:pt x="24409400" y="13735686"/>
                    <a:pt x="24403686" y="13741400"/>
                    <a:pt x="24396700" y="13741400"/>
                  </a:cubicBezTo>
                  <a:lnTo>
                    <a:pt x="12700" y="13741400"/>
                  </a:lnTo>
                  <a:cubicBezTo>
                    <a:pt x="5715" y="13741400"/>
                    <a:pt x="0" y="13735686"/>
                    <a:pt x="0" y="13728700"/>
                  </a:cubicBezTo>
                  <a:lnTo>
                    <a:pt x="0" y="12700"/>
                  </a:lnTo>
                  <a:cubicBezTo>
                    <a:pt x="0" y="5715"/>
                    <a:pt x="5715" y="0"/>
                    <a:pt x="12700" y="0"/>
                  </a:cubicBezTo>
                  <a:moveTo>
                    <a:pt x="12700" y="25400"/>
                  </a:moveTo>
                  <a:lnTo>
                    <a:pt x="12700" y="12700"/>
                  </a:lnTo>
                  <a:lnTo>
                    <a:pt x="25400" y="12700"/>
                  </a:lnTo>
                  <a:lnTo>
                    <a:pt x="25400" y="13728700"/>
                  </a:lnTo>
                  <a:lnTo>
                    <a:pt x="12700" y="13728700"/>
                  </a:lnTo>
                  <a:lnTo>
                    <a:pt x="12700" y="13716000"/>
                  </a:lnTo>
                  <a:lnTo>
                    <a:pt x="24396700" y="13716000"/>
                  </a:lnTo>
                  <a:lnTo>
                    <a:pt x="24396700" y="13728700"/>
                  </a:lnTo>
                  <a:lnTo>
                    <a:pt x="24384000" y="13728700"/>
                  </a:lnTo>
                  <a:lnTo>
                    <a:pt x="24384000" y="12700"/>
                  </a:lnTo>
                  <a:lnTo>
                    <a:pt x="24396700" y="12700"/>
                  </a:lnTo>
                  <a:lnTo>
                    <a:pt x="24396700" y="25400"/>
                  </a:lnTo>
                  <a:lnTo>
                    <a:pt x="12700" y="25400"/>
                  </a:lnTo>
                  <a:close/>
                </a:path>
              </a:pathLst>
            </a:custGeom>
            <a:solidFill>
              <a:srgbClr val="595959"/>
            </a:solidFill>
          </p:spPr>
        </p:sp>
      </p:grpSp>
      <p:grpSp>
        <p:nvGrpSpPr>
          <p:cNvPr id="5" name="Group 5"/>
          <p:cNvGrpSpPr/>
          <p:nvPr/>
        </p:nvGrpSpPr>
        <p:grpSpPr>
          <a:xfrm>
            <a:off x="1056239" y="522270"/>
            <a:ext cx="7270876" cy="1182370"/>
            <a:chOff x="0" y="0"/>
            <a:chExt cx="19101748" cy="3106274"/>
          </a:xfrm>
        </p:grpSpPr>
        <p:sp>
          <p:nvSpPr>
            <p:cNvPr id="6" name="Freeform 6"/>
            <p:cNvSpPr/>
            <p:nvPr/>
          </p:nvSpPr>
          <p:spPr>
            <a:xfrm>
              <a:off x="0" y="0"/>
              <a:ext cx="19101749" cy="3106274"/>
            </a:xfrm>
            <a:custGeom>
              <a:avLst/>
              <a:gdLst/>
              <a:ahLst/>
              <a:cxnLst/>
              <a:rect l="l" t="t" r="r" b="b"/>
              <a:pathLst>
                <a:path w="19101749" h="3106274">
                  <a:moveTo>
                    <a:pt x="0" y="0"/>
                  </a:moveTo>
                  <a:lnTo>
                    <a:pt x="19101749" y="0"/>
                  </a:lnTo>
                  <a:lnTo>
                    <a:pt x="19101749" y="3106274"/>
                  </a:lnTo>
                  <a:lnTo>
                    <a:pt x="0" y="3106274"/>
                  </a:lnTo>
                  <a:close/>
                </a:path>
              </a:pathLst>
            </a:custGeom>
          </p:spPr>
        </p:sp>
        <p:sp>
          <p:nvSpPr>
            <p:cNvPr id="7" name="TextBox 7"/>
            <p:cNvSpPr txBox="1"/>
            <p:nvPr/>
          </p:nvSpPr>
          <p:spPr>
            <a:xfrm>
              <a:off x="0" y="-76200"/>
              <a:ext cx="19101748" cy="3182474"/>
            </a:xfrm>
            <a:prstGeom prst="rect">
              <a:avLst/>
            </a:prstGeom>
          </p:spPr>
          <p:txBody>
            <a:bodyPr lIns="0" tIns="0" rIns="0" bIns="0" rtlCol="0" anchor="t"/>
            <a:lstStyle/>
            <a:p>
              <a:pPr algn="ctr">
                <a:lnSpc>
                  <a:spcPts val="4200"/>
                </a:lnSpc>
              </a:pPr>
              <a:r>
                <a:rPr lang="en-US" sz="3500">
                  <a:solidFill>
                    <a:srgbClr val="000000"/>
                  </a:solidFill>
                  <a:latin typeface="Arial MT Pro"/>
                  <a:ea typeface="Arial MT Pro"/>
                  <a:cs typeface="Arial MT Pro"/>
                  <a:sym typeface="Arial MT Pro"/>
                </a:rPr>
                <a:t>Drafted Paper as Per the selected Journal</a:t>
              </a:r>
            </a:p>
          </p:txBody>
        </p:sp>
      </p:grpSp>
      <p:sp>
        <p:nvSpPr>
          <p:cNvPr id="8" name="TextBox 8"/>
          <p:cNvSpPr txBox="1"/>
          <p:nvPr/>
        </p:nvSpPr>
        <p:spPr>
          <a:xfrm>
            <a:off x="316462" y="1653049"/>
            <a:ext cx="8520600" cy="274819"/>
          </a:xfrm>
          <a:prstGeom prst="rect">
            <a:avLst/>
          </a:prstGeom>
        </p:spPr>
        <p:txBody>
          <a:bodyPr lIns="0" tIns="0" rIns="0" bIns="0" rtlCol="0" anchor="t">
            <a:spAutoFit/>
          </a:bodyPr>
          <a:lstStyle/>
          <a:p>
            <a:pPr marL="388622" lvl="1" indent="-194311" algn="l">
              <a:lnSpc>
                <a:spcPts val="2160"/>
              </a:lnSpc>
              <a:buFont typeface="Arial"/>
              <a:buChar char="•"/>
            </a:pPr>
            <a:r>
              <a:rPr lang="en-US" sz="1800" u="sng" dirty="0">
                <a:solidFill>
                  <a:srgbClr val="5271FF"/>
                </a:solidFill>
                <a:latin typeface="Arial MT Pro"/>
                <a:ea typeface="Arial MT Pro"/>
                <a:cs typeface="Arial MT Pro"/>
                <a:sym typeface="Arial MT Pro"/>
                <a:hlinkClick r:id="rId2" tooltip="https://www.overleaf.com/5125625418kbsqgfsfzgnj#871f9b"/>
              </a:rPr>
              <a:t>Final Paper Link</a:t>
            </a:r>
          </a:p>
        </p:txBody>
      </p:sp>
      <p:sp>
        <p:nvSpPr>
          <p:cNvPr id="9" name="Freeform 9"/>
          <p:cNvSpPr/>
          <p:nvPr/>
        </p:nvSpPr>
        <p:spPr>
          <a:xfrm>
            <a:off x="28379" y="15523"/>
            <a:ext cx="971943" cy="1013493"/>
          </a:xfrm>
          <a:custGeom>
            <a:avLst/>
            <a:gdLst/>
            <a:ahLst/>
            <a:cxnLst/>
            <a:rect l="l" t="t" r="r" b="b"/>
            <a:pathLst>
              <a:path w="971943" h="1013493">
                <a:moveTo>
                  <a:pt x="0" y="0"/>
                </a:moveTo>
                <a:lnTo>
                  <a:pt x="971942" y="0"/>
                </a:lnTo>
                <a:lnTo>
                  <a:pt x="971942" y="1013493"/>
                </a:lnTo>
                <a:lnTo>
                  <a:pt x="0" y="1013493"/>
                </a:lnTo>
                <a:lnTo>
                  <a:pt x="0" y="0"/>
                </a:lnTo>
                <a:close/>
              </a:path>
            </a:pathLst>
          </a:custGeom>
          <a:blipFill>
            <a:blip r:embed="rId3"/>
            <a:stretch>
              <a:fillRect l="-2670" t="-1023" r="-2670"/>
            </a:stretch>
          </a:blipFill>
        </p:spPr>
      </p:sp>
      <p:sp>
        <p:nvSpPr>
          <p:cNvPr id="10" name="TextBox 10"/>
          <p:cNvSpPr txBox="1"/>
          <p:nvPr/>
        </p:nvSpPr>
        <p:spPr>
          <a:xfrm>
            <a:off x="2306361" y="170027"/>
            <a:ext cx="4531277" cy="230832"/>
          </a:xfrm>
          <a:prstGeom prst="rect">
            <a:avLst/>
          </a:prstGeom>
        </p:spPr>
        <p:txBody>
          <a:bodyPr wrap="square" lIns="0" tIns="0" rIns="0" bIns="0" rtlCol="0" anchor="t">
            <a:spAutoFit/>
          </a:bodyPr>
          <a:lstStyle/>
          <a:p>
            <a:pPr algn="ctr">
              <a:lnSpc>
                <a:spcPts val="1800"/>
              </a:lnSpc>
              <a:spcBef>
                <a:spcPct val="0"/>
              </a:spcBef>
            </a:pPr>
            <a:r>
              <a:rPr lang="en-US" sz="1500" dirty="0">
                <a:solidFill>
                  <a:srgbClr val="000000"/>
                </a:solidFill>
                <a:latin typeface="Times New Roman MT"/>
                <a:ea typeface="Times New Roman MT"/>
                <a:cs typeface="Times New Roman MT"/>
                <a:sym typeface="Times New Roman MT"/>
              </a:rPr>
              <a:t>B.E.(I.T.) / Sem VIII / MAJOR PROJECT II-2025-26</a:t>
            </a:r>
          </a:p>
        </p:txBody>
      </p:sp>
      <p:grpSp>
        <p:nvGrpSpPr>
          <p:cNvPr id="11" name="Group 11"/>
          <p:cNvGrpSpPr/>
          <p:nvPr/>
        </p:nvGrpSpPr>
        <p:grpSpPr>
          <a:xfrm>
            <a:off x="8327115" y="25155"/>
            <a:ext cx="816885" cy="850606"/>
            <a:chOff x="0" y="0"/>
            <a:chExt cx="2595506" cy="2702649"/>
          </a:xfrm>
        </p:grpSpPr>
        <p:sp>
          <p:nvSpPr>
            <p:cNvPr id="12" name="Freeform 12"/>
            <p:cNvSpPr/>
            <p:nvPr/>
          </p:nvSpPr>
          <p:spPr>
            <a:xfrm>
              <a:off x="13484" y="14041"/>
              <a:ext cx="2568427" cy="2674453"/>
            </a:xfrm>
            <a:custGeom>
              <a:avLst/>
              <a:gdLst/>
              <a:ahLst/>
              <a:cxnLst/>
              <a:rect l="l" t="t" r="r" b="b"/>
              <a:pathLst>
                <a:path w="2568427" h="2674453">
                  <a:moveTo>
                    <a:pt x="0" y="1337226"/>
                  </a:moveTo>
                  <a:cubicBezTo>
                    <a:pt x="0" y="598691"/>
                    <a:pt x="574957" y="0"/>
                    <a:pt x="1284214" y="0"/>
                  </a:cubicBezTo>
                  <a:cubicBezTo>
                    <a:pt x="1993471" y="0"/>
                    <a:pt x="2568427" y="598691"/>
                    <a:pt x="2568427" y="1337226"/>
                  </a:cubicBezTo>
                  <a:cubicBezTo>
                    <a:pt x="2568427" y="2075761"/>
                    <a:pt x="1993471" y="2674453"/>
                    <a:pt x="1284214" y="2674453"/>
                  </a:cubicBezTo>
                  <a:cubicBezTo>
                    <a:pt x="574957" y="2674453"/>
                    <a:pt x="0" y="2075902"/>
                    <a:pt x="0" y="1337226"/>
                  </a:cubicBezTo>
                  <a:close/>
                </a:path>
              </a:pathLst>
            </a:custGeom>
            <a:solidFill>
              <a:srgbClr val="EEEEEE"/>
            </a:solidFill>
          </p:spPr>
        </p:sp>
        <p:sp>
          <p:nvSpPr>
            <p:cNvPr id="13" name="Freeform 13"/>
            <p:cNvSpPr/>
            <p:nvPr/>
          </p:nvSpPr>
          <p:spPr>
            <a:xfrm>
              <a:off x="0" y="0"/>
              <a:ext cx="2595395" cy="2702534"/>
            </a:xfrm>
            <a:custGeom>
              <a:avLst/>
              <a:gdLst/>
              <a:ahLst/>
              <a:cxnLst/>
              <a:rect l="l" t="t" r="r" b="b"/>
              <a:pathLst>
                <a:path w="2595395" h="2702534">
                  <a:moveTo>
                    <a:pt x="0" y="1351267"/>
                  </a:moveTo>
                  <a:cubicBezTo>
                    <a:pt x="0" y="605009"/>
                    <a:pt x="581024" y="0"/>
                    <a:pt x="1297698" y="0"/>
                  </a:cubicBezTo>
                  <a:lnTo>
                    <a:pt x="1297698" y="14041"/>
                  </a:lnTo>
                  <a:lnTo>
                    <a:pt x="1297698" y="0"/>
                  </a:lnTo>
                  <a:cubicBezTo>
                    <a:pt x="2014371" y="0"/>
                    <a:pt x="2595395" y="605009"/>
                    <a:pt x="2595395" y="1351267"/>
                  </a:cubicBezTo>
                  <a:lnTo>
                    <a:pt x="2581911" y="1351267"/>
                  </a:lnTo>
                  <a:lnTo>
                    <a:pt x="2595395" y="1351267"/>
                  </a:lnTo>
                  <a:cubicBezTo>
                    <a:pt x="2595395" y="2097525"/>
                    <a:pt x="2014371" y="2702534"/>
                    <a:pt x="1297698" y="2702534"/>
                  </a:cubicBezTo>
                  <a:lnTo>
                    <a:pt x="1297698" y="2688494"/>
                  </a:lnTo>
                  <a:lnTo>
                    <a:pt x="1297698" y="2702534"/>
                  </a:lnTo>
                  <a:cubicBezTo>
                    <a:pt x="581024" y="2702672"/>
                    <a:pt x="0" y="2097665"/>
                    <a:pt x="0" y="1351267"/>
                  </a:cubicBezTo>
                  <a:lnTo>
                    <a:pt x="13484" y="1351267"/>
                  </a:lnTo>
                  <a:lnTo>
                    <a:pt x="26968" y="1351267"/>
                  </a:lnTo>
                  <a:lnTo>
                    <a:pt x="13484" y="1351267"/>
                  </a:lnTo>
                  <a:lnTo>
                    <a:pt x="0" y="1351267"/>
                  </a:lnTo>
                  <a:moveTo>
                    <a:pt x="26968" y="1351267"/>
                  </a:moveTo>
                  <a:cubicBezTo>
                    <a:pt x="26968" y="1358989"/>
                    <a:pt x="20900" y="1365308"/>
                    <a:pt x="13484" y="1365308"/>
                  </a:cubicBezTo>
                  <a:cubicBezTo>
                    <a:pt x="6068" y="1365308"/>
                    <a:pt x="0" y="1358989"/>
                    <a:pt x="0" y="1351267"/>
                  </a:cubicBezTo>
                  <a:cubicBezTo>
                    <a:pt x="0" y="1343545"/>
                    <a:pt x="6068" y="1337227"/>
                    <a:pt x="13484" y="1337227"/>
                  </a:cubicBezTo>
                  <a:cubicBezTo>
                    <a:pt x="20900" y="1337227"/>
                    <a:pt x="26968" y="1343545"/>
                    <a:pt x="26968" y="1351267"/>
                  </a:cubicBezTo>
                  <a:cubicBezTo>
                    <a:pt x="26968" y="2082080"/>
                    <a:pt x="595857" y="2674453"/>
                    <a:pt x="1297698" y="2674453"/>
                  </a:cubicBezTo>
                  <a:cubicBezTo>
                    <a:pt x="1999538" y="2674453"/>
                    <a:pt x="2568427" y="2082080"/>
                    <a:pt x="2568427" y="1351267"/>
                  </a:cubicBezTo>
                  <a:cubicBezTo>
                    <a:pt x="2568427" y="620454"/>
                    <a:pt x="1999538" y="28081"/>
                    <a:pt x="1297698" y="28081"/>
                  </a:cubicBezTo>
                  <a:lnTo>
                    <a:pt x="1297698" y="14041"/>
                  </a:lnTo>
                  <a:lnTo>
                    <a:pt x="1297698" y="28081"/>
                  </a:lnTo>
                  <a:cubicBezTo>
                    <a:pt x="595857" y="28081"/>
                    <a:pt x="26968" y="620454"/>
                    <a:pt x="26968" y="1351267"/>
                  </a:cubicBezTo>
                  <a:close/>
                </a:path>
              </a:pathLst>
            </a:custGeom>
            <a:solidFill>
              <a:srgbClr val="595959"/>
            </a:solidFill>
          </p:spPr>
        </p:sp>
        <p:sp>
          <p:nvSpPr>
            <p:cNvPr id="14" name="TextBox 14"/>
            <p:cNvSpPr txBox="1"/>
            <p:nvPr/>
          </p:nvSpPr>
          <p:spPr>
            <a:xfrm>
              <a:off x="0" y="-38100"/>
              <a:ext cx="2595506" cy="2740749"/>
            </a:xfrm>
            <a:prstGeom prst="rect">
              <a:avLst/>
            </a:prstGeom>
          </p:spPr>
          <p:txBody>
            <a:bodyPr lIns="21318" tIns="21318" rIns="21318" bIns="21318" rtlCol="0" anchor="ctr"/>
            <a:lstStyle/>
            <a:p>
              <a:pPr algn="ctr">
                <a:lnSpc>
                  <a:spcPts val="2014"/>
                </a:lnSpc>
              </a:pPr>
              <a:r>
                <a:rPr lang="en-US" sz="1678">
                  <a:solidFill>
                    <a:srgbClr val="000000"/>
                  </a:solidFill>
                  <a:latin typeface="Times New Roman MT"/>
                  <a:ea typeface="Times New Roman MT"/>
                  <a:cs typeface="Times New Roman MT"/>
                  <a:sym typeface="Times New Roman MT"/>
                </a:rPr>
                <a:t>15</a:t>
              </a:r>
            </a:p>
          </p:txBody>
        </p:sp>
      </p:grpSp>
      <p:sp>
        <p:nvSpPr>
          <p:cNvPr id="15" name="TextBox 15"/>
          <p:cNvSpPr txBox="1"/>
          <p:nvPr/>
        </p:nvSpPr>
        <p:spPr>
          <a:xfrm>
            <a:off x="8918207" y="4882825"/>
            <a:ext cx="152400" cy="171450"/>
          </a:xfrm>
          <a:prstGeom prst="rect">
            <a:avLst/>
          </a:prstGeom>
        </p:spPr>
        <p:txBody>
          <a:bodyPr wrap="none" lIns="0" tIns="0" rIns="0" bIns="0" rtlCol="0" anchor="t">
            <a:spAutoFit/>
          </a:bodyPr>
          <a:lstStyle/>
          <a:p>
            <a:pPr algn="ctr">
              <a:lnSpc>
                <a:spcPts val="1540"/>
              </a:lnSpc>
              <a:spcBef>
                <a:spcPct val="0"/>
              </a:spcBef>
            </a:pPr>
            <a:r>
              <a:rPr lang="en-US" sz="1100">
                <a:solidFill>
                  <a:srgbClr val="000000"/>
                </a:solidFill>
                <a:latin typeface="Canva Sans"/>
                <a:ea typeface="Canva Sans"/>
                <a:cs typeface="Canva Sans"/>
                <a:sym typeface="Canva San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F86FD77-28DA-A9A4-070C-668180236D68}"/>
              </a:ext>
            </a:extLst>
          </p:cNvPr>
          <p:cNvPicPr>
            <a:picLocks noChangeAspect="1"/>
          </p:cNvPicPr>
          <p:nvPr/>
        </p:nvPicPr>
        <p:blipFill>
          <a:blip r:embed="rId2"/>
          <a:stretch>
            <a:fillRect/>
          </a:stretch>
        </p:blipFill>
        <p:spPr>
          <a:xfrm>
            <a:off x="0" y="15217"/>
            <a:ext cx="9144000" cy="5113065"/>
          </a:xfrm>
          <a:prstGeom prst="rect">
            <a:avLst/>
          </a:prstGeom>
        </p:spPr>
      </p:pic>
    </p:spTree>
    <p:extLst>
      <p:ext uri="{BB962C8B-B14F-4D97-AF65-F5344CB8AC3E}">
        <p14:creationId xmlns:p14="http://schemas.microsoft.com/office/powerpoint/2010/main" val="187169774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762" y="-4762"/>
            <a:ext cx="9153525" cy="5153025"/>
            <a:chOff x="0" y="0"/>
            <a:chExt cx="24409400" cy="13741400"/>
          </a:xfrm>
        </p:grpSpPr>
        <p:sp>
          <p:nvSpPr>
            <p:cNvPr id="3" name="Freeform 3"/>
            <p:cNvSpPr/>
            <p:nvPr/>
          </p:nvSpPr>
          <p:spPr>
            <a:xfrm>
              <a:off x="12700" y="1270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EEEEE"/>
            </a:solidFill>
          </p:spPr>
        </p:sp>
        <p:sp>
          <p:nvSpPr>
            <p:cNvPr id="4" name="Freeform 4"/>
            <p:cNvSpPr/>
            <p:nvPr/>
          </p:nvSpPr>
          <p:spPr>
            <a:xfrm>
              <a:off x="0" y="0"/>
              <a:ext cx="24409400" cy="13741400"/>
            </a:xfrm>
            <a:custGeom>
              <a:avLst/>
              <a:gdLst/>
              <a:ahLst/>
              <a:cxnLst/>
              <a:rect l="l" t="t" r="r" b="b"/>
              <a:pathLst>
                <a:path w="24409400" h="13741400">
                  <a:moveTo>
                    <a:pt x="12700" y="0"/>
                  </a:moveTo>
                  <a:lnTo>
                    <a:pt x="24396700" y="0"/>
                  </a:lnTo>
                  <a:cubicBezTo>
                    <a:pt x="24403686" y="0"/>
                    <a:pt x="24409400" y="5715"/>
                    <a:pt x="24409400" y="12700"/>
                  </a:cubicBezTo>
                  <a:lnTo>
                    <a:pt x="24409400" y="13728700"/>
                  </a:lnTo>
                  <a:cubicBezTo>
                    <a:pt x="24409400" y="13735686"/>
                    <a:pt x="24403686" y="13741400"/>
                    <a:pt x="24396700" y="13741400"/>
                  </a:cubicBezTo>
                  <a:lnTo>
                    <a:pt x="12700" y="13741400"/>
                  </a:lnTo>
                  <a:cubicBezTo>
                    <a:pt x="5715" y="13741400"/>
                    <a:pt x="0" y="13735686"/>
                    <a:pt x="0" y="13728700"/>
                  </a:cubicBezTo>
                  <a:lnTo>
                    <a:pt x="0" y="12700"/>
                  </a:lnTo>
                  <a:cubicBezTo>
                    <a:pt x="0" y="5715"/>
                    <a:pt x="5715" y="0"/>
                    <a:pt x="12700" y="0"/>
                  </a:cubicBezTo>
                  <a:moveTo>
                    <a:pt x="12700" y="25400"/>
                  </a:moveTo>
                  <a:lnTo>
                    <a:pt x="12700" y="12700"/>
                  </a:lnTo>
                  <a:lnTo>
                    <a:pt x="25400" y="12700"/>
                  </a:lnTo>
                  <a:lnTo>
                    <a:pt x="25400" y="13728700"/>
                  </a:lnTo>
                  <a:lnTo>
                    <a:pt x="12700" y="13728700"/>
                  </a:lnTo>
                  <a:lnTo>
                    <a:pt x="12700" y="13716000"/>
                  </a:lnTo>
                  <a:lnTo>
                    <a:pt x="24396700" y="13716000"/>
                  </a:lnTo>
                  <a:lnTo>
                    <a:pt x="24396700" y="13728700"/>
                  </a:lnTo>
                  <a:lnTo>
                    <a:pt x="24384000" y="13728700"/>
                  </a:lnTo>
                  <a:lnTo>
                    <a:pt x="24384000" y="12700"/>
                  </a:lnTo>
                  <a:lnTo>
                    <a:pt x="24396700" y="12700"/>
                  </a:lnTo>
                  <a:lnTo>
                    <a:pt x="24396700" y="25400"/>
                  </a:lnTo>
                  <a:lnTo>
                    <a:pt x="12700" y="25400"/>
                  </a:lnTo>
                  <a:close/>
                </a:path>
              </a:pathLst>
            </a:custGeom>
            <a:solidFill>
              <a:srgbClr val="595959"/>
            </a:solidFill>
          </p:spPr>
        </p:sp>
      </p:grpSp>
      <p:grpSp>
        <p:nvGrpSpPr>
          <p:cNvPr id="5" name="Group 5"/>
          <p:cNvGrpSpPr/>
          <p:nvPr/>
        </p:nvGrpSpPr>
        <p:grpSpPr>
          <a:xfrm>
            <a:off x="311700" y="445025"/>
            <a:ext cx="8520600" cy="684149"/>
            <a:chOff x="0" y="0"/>
            <a:chExt cx="22721600" cy="1824397"/>
          </a:xfrm>
        </p:grpSpPr>
        <p:sp>
          <p:nvSpPr>
            <p:cNvPr id="6" name="Freeform 6"/>
            <p:cNvSpPr/>
            <p:nvPr/>
          </p:nvSpPr>
          <p:spPr>
            <a:xfrm>
              <a:off x="0" y="0"/>
              <a:ext cx="22721601" cy="1824397"/>
            </a:xfrm>
            <a:custGeom>
              <a:avLst/>
              <a:gdLst/>
              <a:ahLst/>
              <a:cxnLst/>
              <a:rect l="l" t="t" r="r" b="b"/>
              <a:pathLst>
                <a:path w="22721601" h="1824397">
                  <a:moveTo>
                    <a:pt x="0" y="0"/>
                  </a:moveTo>
                  <a:lnTo>
                    <a:pt x="22721601" y="0"/>
                  </a:lnTo>
                  <a:lnTo>
                    <a:pt x="22721601" y="1824397"/>
                  </a:lnTo>
                  <a:lnTo>
                    <a:pt x="0" y="1824397"/>
                  </a:lnTo>
                  <a:close/>
                </a:path>
              </a:pathLst>
            </a:custGeom>
          </p:spPr>
        </p:sp>
        <p:sp>
          <p:nvSpPr>
            <p:cNvPr id="7" name="TextBox 7"/>
            <p:cNvSpPr txBox="1"/>
            <p:nvPr/>
          </p:nvSpPr>
          <p:spPr>
            <a:xfrm>
              <a:off x="0" y="-76200"/>
              <a:ext cx="22721600" cy="1900597"/>
            </a:xfrm>
            <a:prstGeom prst="rect">
              <a:avLst/>
            </a:prstGeom>
          </p:spPr>
          <p:txBody>
            <a:bodyPr lIns="0" tIns="0" rIns="0" bIns="0" rtlCol="0" anchor="t"/>
            <a:lstStyle/>
            <a:p>
              <a:pPr algn="ctr">
                <a:lnSpc>
                  <a:spcPts val="4439"/>
                </a:lnSpc>
              </a:pPr>
              <a:r>
                <a:rPr lang="en-US" sz="3699">
                  <a:solidFill>
                    <a:srgbClr val="000000"/>
                  </a:solidFill>
                  <a:latin typeface="Arial MT Pro"/>
                  <a:ea typeface="Arial MT Pro"/>
                  <a:cs typeface="Arial MT Pro"/>
                  <a:sym typeface="Arial MT Pro"/>
                </a:rPr>
                <a:t>Reference</a:t>
              </a:r>
            </a:p>
          </p:txBody>
        </p:sp>
      </p:grpSp>
      <p:grpSp>
        <p:nvGrpSpPr>
          <p:cNvPr id="8" name="Group 8"/>
          <p:cNvGrpSpPr/>
          <p:nvPr/>
        </p:nvGrpSpPr>
        <p:grpSpPr>
          <a:xfrm>
            <a:off x="424113" y="1177006"/>
            <a:ext cx="8115300" cy="4776724"/>
            <a:chOff x="0" y="0"/>
            <a:chExt cx="30824354" cy="18143437"/>
          </a:xfrm>
        </p:grpSpPr>
        <p:sp>
          <p:nvSpPr>
            <p:cNvPr id="9" name="Freeform 9"/>
            <p:cNvSpPr/>
            <p:nvPr/>
          </p:nvSpPr>
          <p:spPr>
            <a:xfrm>
              <a:off x="0" y="0"/>
              <a:ext cx="30824354" cy="18143437"/>
            </a:xfrm>
            <a:custGeom>
              <a:avLst/>
              <a:gdLst/>
              <a:ahLst/>
              <a:cxnLst/>
              <a:rect l="l" t="t" r="r" b="b"/>
              <a:pathLst>
                <a:path w="30824354" h="18143437">
                  <a:moveTo>
                    <a:pt x="0" y="0"/>
                  </a:moveTo>
                  <a:lnTo>
                    <a:pt x="30824354" y="0"/>
                  </a:lnTo>
                  <a:lnTo>
                    <a:pt x="30824354" y="18143437"/>
                  </a:lnTo>
                  <a:lnTo>
                    <a:pt x="0" y="18143437"/>
                  </a:lnTo>
                  <a:close/>
                </a:path>
              </a:pathLst>
            </a:custGeom>
          </p:spPr>
        </p:sp>
        <p:sp>
          <p:nvSpPr>
            <p:cNvPr id="10" name="TextBox 10"/>
            <p:cNvSpPr txBox="1"/>
            <p:nvPr/>
          </p:nvSpPr>
          <p:spPr>
            <a:xfrm>
              <a:off x="0" y="-57150"/>
              <a:ext cx="30824354" cy="18200587"/>
            </a:xfrm>
            <a:prstGeom prst="rect">
              <a:avLst/>
            </a:prstGeom>
          </p:spPr>
          <p:txBody>
            <a:bodyPr lIns="0" tIns="0" rIns="0" bIns="0" rtlCol="0" anchor="t"/>
            <a:lstStyle/>
            <a:p>
              <a:pPr marL="302264" lvl="1" indent="-151132" algn="l">
                <a:lnSpc>
                  <a:spcPts val="1932"/>
                </a:lnSpc>
                <a:buFont typeface="Arial"/>
                <a:buChar char="•"/>
              </a:pPr>
              <a:r>
                <a:rPr lang="en-US" sz="1400">
                  <a:solidFill>
                    <a:srgbClr val="000000"/>
                  </a:solidFill>
                  <a:latin typeface="Arial MT Pro"/>
                  <a:ea typeface="Arial MT Pro"/>
                  <a:cs typeface="Arial MT Pro"/>
                  <a:sym typeface="Arial MT Pro"/>
                </a:rPr>
                <a:t>[1] M. Krause, “Stylometry‑based Fraud and Plagiarism Detection for Learning at Scale,” *ResearchGate*, 2015.   </a:t>
              </a:r>
            </a:p>
            <a:p>
              <a:pPr algn="l">
                <a:lnSpc>
                  <a:spcPts val="1932"/>
                </a:lnSpc>
              </a:pPr>
              <a:r>
                <a:rPr lang="en-US" sz="1400">
                  <a:solidFill>
                    <a:srgbClr val="000000"/>
                  </a:solidFill>
                  <a:latin typeface="Arial MT Pro"/>
                  <a:ea typeface="Arial MT Pro"/>
                  <a:cs typeface="Arial MT Pro"/>
                  <a:sym typeface="Arial MT Pro"/>
                </a:rPr>
                <a:t>      Available:</a:t>
              </a:r>
              <a:r>
                <a:rPr lang="en-US" sz="1400" u="sng">
                  <a:solidFill>
                    <a:srgbClr val="5271FF"/>
                  </a:solidFill>
                  <a:latin typeface="Arial MT Pro"/>
                  <a:ea typeface="Arial MT Pro"/>
                  <a:cs typeface="Arial MT Pro"/>
                  <a:sym typeface="Arial MT Pro"/>
                  <a:hlinkClick r:id="rId2" tooltip="https://www.researchgate.net/publication/271836873_Stylometry-based_Fraud_and_Plagiarism_Detection_for_Learning_at_Scale"/>
                </a:rPr>
                <a:t> http://bit.ly/4kV1uYV</a:t>
              </a:r>
            </a:p>
            <a:p>
              <a:pPr algn="l">
                <a:lnSpc>
                  <a:spcPts val="1932"/>
                </a:lnSpc>
              </a:pPr>
              <a:endParaRPr lang="en-US" sz="1400" u="sng">
                <a:solidFill>
                  <a:srgbClr val="5271FF"/>
                </a:solidFill>
                <a:latin typeface="Arial MT Pro"/>
                <a:ea typeface="Arial MT Pro"/>
                <a:cs typeface="Arial MT Pro"/>
                <a:sym typeface="Arial MT Pro"/>
                <a:hlinkClick r:id="rId2" tooltip="https://www.researchgate.net/publication/271836873_Stylometry-based_Fraud_and_Plagiarism_Detection_for_Learning_at_Scale"/>
              </a:endParaRPr>
            </a:p>
            <a:p>
              <a:pPr marL="302264" lvl="1" indent="-151132" algn="l">
                <a:lnSpc>
                  <a:spcPts val="1932"/>
                </a:lnSpc>
                <a:buFont typeface="Arial"/>
                <a:buChar char="•"/>
              </a:pPr>
              <a:r>
                <a:rPr lang="en-US" sz="1400">
                  <a:solidFill>
                    <a:srgbClr val="000000"/>
                  </a:solidFill>
                  <a:latin typeface="Arial MT Pro"/>
                  <a:ea typeface="Arial MT Pro"/>
                  <a:cs typeface="Arial MT Pro"/>
                  <a:sym typeface="Arial MT Pro"/>
                </a:rPr>
                <a:t>[2] M. S. Bhat and R. V. Dharaskar, “Innovative Framework for Context-based Recommendation using TF-IDF and Cosine Similarity,” *ResearchGate*, 2024. [Online]. </a:t>
              </a:r>
            </a:p>
            <a:p>
              <a:pPr algn="l">
                <a:lnSpc>
                  <a:spcPts val="1932"/>
                </a:lnSpc>
              </a:pPr>
              <a:r>
                <a:rPr lang="en-US" sz="1400">
                  <a:solidFill>
                    <a:srgbClr val="5271FF"/>
                  </a:solidFill>
                  <a:latin typeface="Arial MT Pro"/>
                  <a:ea typeface="Arial MT Pro"/>
                  <a:cs typeface="Arial MT Pro"/>
                  <a:sym typeface="Arial MT Pro"/>
                </a:rPr>
                <a:t>      </a:t>
              </a:r>
              <a:r>
                <a:rPr lang="en-US" sz="1400">
                  <a:solidFill>
                    <a:srgbClr val="000000"/>
                  </a:solidFill>
                  <a:latin typeface="Arial MT Pro"/>
                  <a:ea typeface="Arial MT Pro"/>
                  <a:cs typeface="Arial MT Pro"/>
                  <a:sym typeface="Arial MT Pro"/>
                </a:rPr>
                <a:t>Available:</a:t>
              </a:r>
              <a:r>
                <a:rPr lang="en-US" sz="1400">
                  <a:solidFill>
                    <a:srgbClr val="5271FF"/>
                  </a:solidFill>
                  <a:latin typeface="Arial MT Pro"/>
                  <a:ea typeface="Arial MT Pro"/>
                  <a:cs typeface="Arial MT Pro"/>
                  <a:sym typeface="Arial MT Pro"/>
                </a:rPr>
                <a:t> </a:t>
              </a:r>
              <a:r>
                <a:rPr lang="en-US" sz="1400" u="sng">
                  <a:solidFill>
                    <a:srgbClr val="5271FF"/>
                  </a:solidFill>
                  <a:latin typeface="Arial MT Pro"/>
                  <a:ea typeface="Arial MT Pro"/>
                  <a:cs typeface="Arial MT Pro"/>
                  <a:sym typeface="Arial MT Pro"/>
                  <a:hlinkClick r:id="rId3" tooltip="https://www.researchgate.net/publication/383074637_Innovative_Framework_for_Context-based_Recommendation_using_TF-IDF_and_Cosine_Similarity"/>
                </a:rPr>
                <a:t>http://bit.ly/3UohrvF</a:t>
              </a:r>
            </a:p>
            <a:p>
              <a:pPr algn="l">
                <a:lnSpc>
                  <a:spcPts val="1932"/>
                </a:lnSpc>
              </a:pPr>
              <a:endParaRPr lang="en-US" sz="1400" u="sng">
                <a:solidFill>
                  <a:srgbClr val="5271FF"/>
                </a:solidFill>
                <a:latin typeface="Arial MT Pro"/>
                <a:ea typeface="Arial MT Pro"/>
                <a:cs typeface="Arial MT Pro"/>
                <a:sym typeface="Arial MT Pro"/>
                <a:hlinkClick r:id="rId3" tooltip="https://www.researchgate.net/publication/383074637_Innovative_Framework_for_Context-based_Recommendation_using_TF-IDF_and_Cosine_Similarity"/>
              </a:endParaRPr>
            </a:p>
            <a:p>
              <a:pPr marL="302264" lvl="1" indent="-151132" algn="l">
                <a:lnSpc>
                  <a:spcPts val="1932"/>
                </a:lnSpc>
                <a:buFont typeface="Arial"/>
                <a:buChar char="•"/>
              </a:pPr>
              <a:r>
                <a:rPr lang="en-US" sz="1400">
                  <a:solidFill>
                    <a:srgbClr val="000000"/>
                  </a:solidFill>
                  <a:latin typeface="Arial MT Pro"/>
                  <a:ea typeface="Arial MT Pro"/>
                  <a:cs typeface="Arial MT Pro"/>
                  <a:sym typeface="Arial MT Pro"/>
                </a:rPr>
                <a:t>[3] C. Opara, “StyloAI: Distinguishing AI-Generated Content with Stylometric Analysis,” *arXiv*, May 16, 2024. [Online]. </a:t>
              </a:r>
            </a:p>
            <a:p>
              <a:pPr algn="l">
                <a:lnSpc>
                  <a:spcPts val="1932"/>
                </a:lnSpc>
              </a:pPr>
              <a:r>
                <a:rPr lang="en-US" sz="1400">
                  <a:solidFill>
                    <a:srgbClr val="5271FF"/>
                  </a:solidFill>
                  <a:latin typeface="Arial MT Pro"/>
                  <a:ea typeface="Arial MT Pro"/>
                  <a:cs typeface="Arial MT Pro"/>
                  <a:sym typeface="Arial MT Pro"/>
                </a:rPr>
                <a:t>      </a:t>
              </a:r>
              <a:r>
                <a:rPr lang="en-US" sz="1400">
                  <a:solidFill>
                    <a:srgbClr val="000000"/>
                  </a:solidFill>
                  <a:latin typeface="Arial MT Pro"/>
                  <a:ea typeface="Arial MT Pro"/>
                  <a:cs typeface="Arial MT Pro"/>
                  <a:sym typeface="Arial MT Pro"/>
                </a:rPr>
                <a:t>Available:</a:t>
              </a:r>
              <a:r>
                <a:rPr lang="en-US" sz="1400" u="none">
                  <a:solidFill>
                    <a:srgbClr val="000000"/>
                  </a:solidFill>
                  <a:latin typeface="Arial MT Pro"/>
                  <a:ea typeface="Arial MT Pro"/>
                  <a:cs typeface="Arial MT Pro"/>
                  <a:sym typeface="Arial MT Pro"/>
                </a:rPr>
                <a:t> </a:t>
              </a:r>
              <a:r>
                <a:rPr lang="en-US" sz="1400" u="sng">
                  <a:solidFill>
                    <a:srgbClr val="5271FF"/>
                  </a:solidFill>
                  <a:latin typeface="Arial MT Pro"/>
                  <a:ea typeface="Arial MT Pro"/>
                  <a:cs typeface="Arial MT Pro"/>
                  <a:sym typeface="Arial MT Pro"/>
                  <a:hlinkClick r:id="rId4" tooltip="https://arxiv.org/abs/2405.10129"/>
                </a:rPr>
                <a:t>https://arxiv.org/abs/2405.10129</a:t>
              </a:r>
            </a:p>
            <a:p>
              <a:pPr algn="l">
                <a:lnSpc>
                  <a:spcPts val="1932"/>
                </a:lnSpc>
              </a:pPr>
              <a:endParaRPr lang="en-US" sz="1400" u="sng">
                <a:solidFill>
                  <a:srgbClr val="5271FF"/>
                </a:solidFill>
                <a:latin typeface="Arial MT Pro"/>
                <a:ea typeface="Arial MT Pro"/>
                <a:cs typeface="Arial MT Pro"/>
                <a:sym typeface="Arial MT Pro"/>
                <a:hlinkClick r:id="rId4" tooltip="https://arxiv.org/abs/2405.10129"/>
              </a:endParaRPr>
            </a:p>
            <a:p>
              <a:pPr marL="302264" lvl="1" indent="-151132" algn="l">
                <a:lnSpc>
                  <a:spcPts val="1932"/>
                </a:lnSpc>
                <a:buFont typeface="Arial"/>
                <a:buChar char="•"/>
              </a:pPr>
              <a:r>
                <a:rPr lang="en-US" sz="1400">
                  <a:solidFill>
                    <a:srgbClr val="000000"/>
                  </a:solidFill>
                  <a:latin typeface="Arial MT Pro"/>
                  <a:ea typeface="Arial MT Pro"/>
                  <a:cs typeface="Arial MT Pro"/>
                  <a:sym typeface="Arial MT Pro"/>
                </a:rPr>
                <a:t>[4] N. Lucchi and S. Hunter, “Generative AI and Copyright – Training, Creation, Regulation,” Policy Department for Justice, Civil Liberties and Institutional Affairs, European Parliament, PE 774.095, July 9 2025. [Online].</a:t>
              </a:r>
            </a:p>
            <a:p>
              <a:pPr algn="l">
                <a:lnSpc>
                  <a:spcPts val="1932"/>
                </a:lnSpc>
              </a:pPr>
              <a:r>
                <a:rPr lang="en-US" sz="1400">
                  <a:solidFill>
                    <a:srgbClr val="5271FF"/>
                  </a:solidFill>
                  <a:latin typeface="Arial MT Pro"/>
                  <a:ea typeface="Arial MT Pro"/>
                  <a:cs typeface="Arial MT Pro"/>
                  <a:sym typeface="Arial MT Pro"/>
                </a:rPr>
                <a:t>      </a:t>
              </a:r>
              <a:r>
                <a:rPr lang="en-US" sz="1400">
                  <a:solidFill>
                    <a:srgbClr val="000000"/>
                  </a:solidFill>
                  <a:latin typeface="Arial MT Pro"/>
                  <a:ea typeface="Arial MT Pro"/>
                  <a:cs typeface="Arial MT Pro"/>
                  <a:sym typeface="Arial MT Pro"/>
                </a:rPr>
                <a:t>Available: </a:t>
              </a:r>
              <a:r>
                <a:rPr lang="en-US" sz="1400" u="sng">
                  <a:solidFill>
                    <a:srgbClr val="5271FF"/>
                  </a:solidFill>
                  <a:latin typeface="Arial MT Pro"/>
                  <a:ea typeface="Arial MT Pro"/>
                  <a:cs typeface="Arial MT Pro"/>
                  <a:sym typeface="Arial MT Pro"/>
                </a:rPr>
                <a:t>https://tinyurl.com/3vbsua88</a:t>
              </a:r>
            </a:p>
            <a:p>
              <a:pPr algn="l">
                <a:lnSpc>
                  <a:spcPts val="1932"/>
                </a:lnSpc>
              </a:pPr>
              <a:r>
                <a:rPr lang="en-US" sz="1400">
                  <a:solidFill>
                    <a:srgbClr val="5271FF"/>
                  </a:solidFill>
                  <a:latin typeface="Arial MT Pro"/>
                  <a:ea typeface="Arial MT Pro"/>
                  <a:cs typeface="Arial MT Pro"/>
                  <a:sym typeface="Arial MT Pro"/>
                </a:rPr>
                <a:t>      </a:t>
              </a:r>
            </a:p>
            <a:p>
              <a:pPr algn="l">
                <a:lnSpc>
                  <a:spcPts val="1932"/>
                </a:lnSpc>
              </a:pPr>
              <a:endParaRPr lang="en-US" sz="1400">
                <a:solidFill>
                  <a:srgbClr val="5271FF"/>
                </a:solidFill>
                <a:latin typeface="Arial MT Pro"/>
                <a:ea typeface="Arial MT Pro"/>
                <a:cs typeface="Arial MT Pro"/>
                <a:sym typeface="Arial MT Pro"/>
              </a:endParaRPr>
            </a:p>
            <a:p>
              <a:pPr algn="l">
                <a:lnSpc>
                  <a:spcPts val="1932"/>
                </a:lnSpc>
              </a:pPr>
              <a:endParaRPr lang="en-US" sz="1400">
                <a:solidFill>
                  <a:srgbClr val="5271FF"/>
                </a:solidFill>
                <a:latin typeface="Arial MT Pro"/>
                <a:ea typeface="Arial MT Pro"/>
                <a:cs typeface="Arial MT Pro"/>
                <a:sym typeface="Arial MT Pro"/>
              </a:endParaRPr>
            </a:p>
            <a:p>
              <a:pPr algn="l">
                <a:lnSpc>
                  <a:spcPts val="1932"/>
                </a:lnSpc>
              </a:pPr>
              <a:endParaRPr lang="en-US" sz="1400">
                <a:solidFill>
                  <a:srgbClr val="5271FF"/>
                </a:solidFill>
                <a:latin typeface="Arial MT Pro"/>
                <a:ea typeface="Arial MT Pro"/>
                <a:cs typeface="Arial MT Pro"/>
                <a:sym typeface="Arial MT Pro"/>
              </a:endParaRPr>
            </a:p>
          </p:txBody>
        </p:sp>
      </p:grpSp>
      <p:sp>
        <p:nvSpPr>
          <p:cNvPr id="11" name="Freeform 11"/>
          <p:cNvSpPr/>
          <p:nvPr/>
        </p:nvSpPr>
        <p:spPr>
          <a:xfrm>
            <a:off x="28379" y="7603"/>
            <a:ext cx="971943" cy="1013493"/>
          </a:xfrm>
          <a:custGeom>
            <a:avLst/>
            <a:gdLst/>
            <a:ahLst/>
            <a:cxnLst/>
            <a:rect l="l" t="t" r="r" b="b"/>
            <a:pathLst>
              <a:path w="971943" h="1013493">
                <a:moveTo>
                  <a:pt x="0" y="0"/>
                </a:moveTo>
                <a:lnTo>
                  <a:pt x="971942" y="0"/>
                </a:lnTo>
                <a:lnTo>
                  <a:pt x="971942" y="1013494"/>
                </a:lnTo>
                <a:lnTo>
                  <a:pt x="0" y="1013494"/>
                </a:lnTo>
                <a:lnTo>
                  <a:pt x="0" y="0"/>
                </a:lnTo>
                <a:close/>
              </a:path>
            </a:pathLst>
          </a:custGeom>
          <a:blipFill>
            <a:blip r:embed="rId5"/>
            <a:stretch>
              <a:fillRect l="-2670" t="-1023" r="-2670"/>
            </a:stretch>
          </a:blipFill>
        </p:spPr>
      </p:sp>
      <p:sp>
        <p:nvSpPr>
          <p:cNvPr id="12" name="TextBox 12"/>
          <p:cNvSpPr txBox="1"/>
          <p:nvPr/>
        </p:nvSpPr>
        <p:spPr>
          <a:xfrm>
            <a:off x="2256011" y="91254"/>
            <a:ext cx="4631978" cy="230832"/>
          </a:xfrm>
          <a:prstGeom prst="rect">
            <a:avLst/>
          </a:prstGeom>
        </p:spPr>
        <p:txBody>
          <a:bodyPr wrap="square" lIns="0" tIns="0" rIns="0" bIns="0" rtlCol="0" anchor="t">
            <a:spAutoFit/>
          </a:bodyPr>
          <a:lstStyle/>
          <a:p>
            <a:pPr algn="ctr">
              <a:lnSpc>
                <a:spcPts val="1800"/>
              </a:lnSpc>
              <a:spcBef>
                <a:spcPct val="0"/>
              </a:spcBef>
            </a:pPr>
            <a:r>
              <a:rPr lang="en-US" sz="1500" dirty="0">
                <a:solidFill>
                  <a:srgbClr val="000000"/>
                </a:solidFill>
                <a:latin typeface="Times New Roman MT"/>
                <a:ea typeface="Times New Roman MT"/>
                <a:cs typeface="Times New Roman MT"/>
                <a:sym typeface="Times New Roman MT"/>
              </a:rPr>
              <a:t>B.E.(I.T.) / Sem VIII / MAJOR PROJECT II-2025-26</a:t>
            </a:r>
          </a:p>
        </p:txBody>
      </p:sp>
      <p:grpSp>
        <p:nvGrpSpPr>
          <p:cNvPr id="13" name="Group 13"/>
          <p:cNvGrpSpPr/>
          <p:nvPr/>
        </p:nvGrpSpPr>
        <p:grpSpPr>
          <a:xfrm>
            <a:off x="8327115" y="25155"/>
            <a:ext cx="816885" cy="850606"/>
            <a:chOff x="0" y="0"/>
            <a:chExt cx="2595506" cy="2702649"/>
          </a:xfrm>
        </p:grpSpPr>
        <p:sp>
          <p:nvSpPr>
            <p:cNvPr id="14" name="Freeform 14"/>
            <p:cNvSpPr/>
            <p:nvPr/>
          </p:nvSpPr>
          <p:spPr>
            <a:xfrm>
              <a:off x="13484" y="14041"/>
              <a:ext cx="2568427" cy="2674453"/>
            </a:xfrm>
            <a:custGeom>
              <a:avLst/>
              <a:gdLst/>
              <a:ahLst/>
              <a:cxnLst/>
              <a:rect l="l" t="t" r="r" b="b"/>
              <a:pathLst>
                <a:path w="2568427" h="2674453">
                  <a:moveTo>
                    <a:pt x="0" y="1337226"/>
                  </a:moveTo>
                  <a:cubicBezTo>
                    <a:pt x="0" y="598691"/>
                    <a:pt x="574957" y="0"/>
                    <a:pt x="1284214" y="0"/>
                  </a:cubicBezTo>
                  <a:cubicBezTo>
                    <a:pt x="1993471" y="0"/>
                    <a:pt x="2568427" y="598691"/>
                    <a:pt x="2568427" y="1337226"/>
                  </a:cubicBezTo>
                  <a:cubicBezTo>
                    <a:pt x="2568427" y="2075761"/>
                    <a:pt x="1993471" y="2674453"/>
                    <a:pt x="1284214" y="2674453"/>
                  </a:cubicBezTo>
                  <a:cubicBezTo>
                    <a:pt x="574957" y="2674453"/>
                    <a:pt x="0" y="2075902"/>
                    <a:pt x="0" y="1337226"/>
                  </a:cubicBezTo>
                  <a:close/>
                </a:path>
              </a:pathLst>
            </a:custGeom>
            <a:solidFill>
              <a:srgbClr val="EEEEEE"/>
            </a:solidFill>
          </p:spPr>
        </p:sp>
        <p:sp>
          <p:nvSpPr>
            <p:cNvPr id="15" name="Freeform 15"/>
            <p:cNvSpPr/>
            <p:nvPr/>
          </p:nvSpPr>
          <p:spPr>
            <a:xfrm>
              <a:off x="0" y="0"/>
              <a:ext cx="2595395" cy="2702534"/>
            </a:xfrm>
            <a:custGeom>
              <a:avLst/>
              <a:gdLst/>
              <a:ahLst/>
              <a:cxnLst/>
              <a:rect l="l" t="t" r="r" b="b"/>
              <a:pathLst>
                <a:path w="2595395" h="2702534">
                  <a:moveTo>
                    <a:pt x="0" y="1351267"/>
                  </a:moveTo>
                  <a:cubicBezTo>
                    <a:pt x="0" y="605009"/>
                    <a:pt x="581024" y="0"/>
                    <a:pt x="1297698" y="0"/>
                  </a:cubicBezTo>
                  <a:lnTo>
                    <a:pt x="1297698" y="14041"/>
                  </a:lnTo>
                  <a:lnTo>
                    <a:pt x="1297698" y="0"/>
                  </a:lnTo>
                  <a:cubicBezTo>
                    <a:pt x="2014371" y="0"/>
                    <a:pt x="2595395" y="605009"/>
                    <a:pt x="2595395" y="1351267"/>
                  </a:cubicBezTo>
                  <a:lnTo>
                    <a:pt x="2581911" y="1351267"/>
                  </a:lnTo>
                  <a:lnTo>
                    <a:pt x="2595395" y="1351267"/>
                  </a:lnTo>
                  <a:cubicBezTo>
                    <a:pt x="2595395" y="2097525"/>
                    <a:pt x="2014371" y="2702534"/>
                    <a:pt x="1297698" y="2702534"/>
                  </a:cubicBezTo>
                  <a:lnTo>
                    <a:pt x="1297698" y="2688494"/>
                  </a:lnTo>
                  <a:lnTo>
                    <a:pt x="1297698" y="2702534"/>
                  </a:lnTo>
                  <a:cubicBezTo>
                    <a:pt x="581024" y="2702672"/>
                    <a:pt x="0" y="2097665"/>
                    <a:pt x="0" y="1351267"/>
                  </a:cubicBezTo>
                  <a:lnTo>
                    <a:pt x="13484" y="1351267"/>
                  </a:lnTo>
                  <a:lnTo>
                    <a:pt x="26968" y="1351267"/>
                  </a:lnTo>
                  <a:lnTo>
                    <a:pt x="13484" y="1351267"/>
                  </a:lnTo>
                  <a:lnTo>
                    <a:pt x="0" y="1351267"/>
                  </a:lnTo>
                  <a:moveTo>
                    <a:pt x="26968" y="1351267"/>
                  </a:moveTo>
                  <a:cubicBezTo>
                    <a:pt x="26968" y="1358989"/>
                    <a:pt x="20900" y="1365308"/>
                    <a:pt x="13484" y="1365308"/>
                  </a:cubicBezTo>
                  <a:cubicBezTo>
                    <a:pt x="6068" y="1365308"/>
                    <a:pt x="0" y="1358989"/>
                    <a:pt x="0" y="1351267"/>
                  </a:cubicBezTo>
                  <a:cubicBezTo>
                    <a:pt x="0" y="1343545"/>
                    <a:pt x="6068" y="1337227"/>
                    <a:pt x="13484" y="1337227"/>
                  </a:cubicBezTo>
                  <a:cubicBezTo>
                    <a:pt x="20900" y="1337227"/>
                    <a:pt x="26968" y="1343545"/>
                    <a:pt x="26968" y="1351267"/>
                  </a:cubicBezTo>
                  <a:cubicBezTo>
                    <a:pt x="26968" y="2082080"/>
                    <a:pt x="595857" y="2674453"/>
                    <a:pt x="1297698" y="2674453"/>
                  </a:cubicBezTo>
                  <a:cubicBezTo>
                    <a:pt x="1999538" y="2674453"/>
                    <a:pt x="2568427" y="2082080"/>
                    <a:pt x="2568427" y="1351267"/>
                  </a:cubicBezTo>
                  <a:cubicBezTo>
                    <a:pt x="2568427" y="620454"/>
                    <a:pt x="1999538" y="28081"/>
                    <a:pt x="1297698" y="28081"/>
                  </a:cubicBezTo>
                  <a:lnTo>
                    <a:pt x="1297698" y="14041"/>
                  </a:lnTo>
                  <a:lnTo>
                    <a:pt x="1297698" y="28081"/>
                  </a:lnTo>
                  <a:cubicBezTo>
                    <a:pt x="595857" y="28081"/>
                    <a:pt x="26968" y="620454"/>
                    <a:pt x="26968" y="1351267"/>
                  </a:cubicBezTo>
                  <a:close/>
                </a:path>
              </a:pathLst>
            </a:custGeom>
            <a:solidFill>
              <a:srgbClr val="595959"/>
            </a:solidFill>
          </p:spPr>
        </p:sp>
        <p:sp>
          <p:nvSpPr>
            <p:cNvPr id="16" name="TextBox 16"/>
            <p:cNvSpPr txBox="1"/>
            <p:nvPr/>
          </p:nvSpPr>
          <p:spPr>
            <a:xfrm>
              <a:off x="0" y="-38100"/>
              <a:ext cx="2595506" cy="2740749"/>
            </a:xfrm>
            <a:prstGeom prst="rect">
              <a:avLst/>
            </a:prstGeom>
          </p:spPr>
          <p:txBody>
            <a:bodyPr lIns="21318" tIns="21318" rIns="21318" bIns="21318" rtlCol="0" anchor="ctr"/>
            <a:lstStyle/>
            <a:p>
              <a:pPr algn="ctr">
                <a:lnSpc>
                  <a:spcPts val="2014"/>
                </a:lnSpc>
              </a:pPr>
              <a:r>
                <a:rPr lang="en-US" sz="1678">
                  <a:solidFill>
                    <a:srgbClr val="000000"/>
                  </a:solidFill>
                  <a:latin typeface="Times New Roman MT"/>
                  <a:ea typeface="Times New Roman MT"/>
                  <a:cs typeface="Times New Roman MT"/>
                  <a:sym typeface="Times New Roman MT"/>
                </a:rPr>
                <a:t>15</a:t>
              </a:r>
            </a:p>
          </p:txBody>
        </p:sp>
      </p:grpSp>
      <p:sp>
        <p:nvSpPr>
          <p:cNvPr id="17" name="TextBox 17"/>
          <p:cNvSpPr txBox="1"/>
          <p:nvPr/>
        </p:nvSpPr>
        <p:spPr>
          <a:xfrm>
            <a:off x="8918264" y="4882825"/>
            <a:ext cx="152286" cy="180690"/>
          </a:xfrm>
          <a:prstGeom prst="rect">
            <a:avLst/>
          </a:prstGeom>
        </p:spPr>
        <p:txBody>
          <a:bodyPr wrap="none" lIns="0" tIns="0" rIns="0" bIns="0" rtlCol="0" anchor="t">
            <a:spAutoFit/>
          </a:bodyPr>
          <a:lstStyle/>
          <a:p>
            <a:pPr algn="ctr">
              <a:lnSpc>
                <a:spcPts val="1540"/>
              </a:lnSpc>
              <a:spcBef>
                <a:spcPct val="0"/>
              </a:spcBef>
            </a:pPr>
            <a:r>
              <a:rPr lang="en-US" sz="1100" dirty="0">
                <a:solidFill>
                  <a:srgbClr val="000000"/>
                </a:solidFill>
                <a:latin typeface="Canva Sans"/>
                <a:ea typeface="Canva Sans"/>
                <a:cs typeface="Canva Sans"/>
                <a:sym typeface="Canva San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9525" y="-4762"/>
            <a:ext cx="9153525" cy="5153025"/>
            <a:chOff x="0" y="0"/>
            <a:chExt cx="24409400" cy="13741400"/>
          </a:xfrm>
        </p:grpSpPr>
        <p:sp>
          <p:nvSpPr>
            <p:cNvPr id="3" name="Freeform 3"/>
            <p:cNvSpPr/>
            <p:nvPr/>
          </p:nvSpPr>
          <p:spPr>
            <a:xfrm>
              <a:off x="12700" y="12700"/>
              <a:ext cx="24384000" cy="13716000"/>
            </a:xfrm>
            <a:custGeom>
              <a:avLst/>
              <a:gdLst/>
              <a:ahLst/>
              <a:cxnLst/>
              <a:rect l="l" t="t" r="r" b="b"/>
              <a:pathLst>
                <a:path w="24384000" h="13716000">
                  <a:moveTo>
                    <a:pt x="0" y="0"/>
                  </a:moveTo>
                  <a:lnTo>
                    <a:pt x="24384000" y="0"/>
                  </a:lnTo>
                  <a:lnTo>
                    <a:pt x="24384000" y="13716000"/>
                  </a:lnTo>
                  <a:lnTo>
                    <a:pt x="0" y="13716000"/>
                  </a:lnTo>
                  <a:close/>
                </a:path>
              </a:pathLst>
            </a:custGeom>
            <a:solidFill>
              <a:srgbClr val="EEEEEE"/>
            </a:solidFill>
          </p:spPr>
        </p:sp>
        <p:sp>
          <p:nvSpPr>
            <p:cNvPr id="4" name="Freeform 4"/>
            <p:cNvSpPr/>
            <p:nvPr/>
          </p:nvSpPr>
          <p:spPr>
            <a:xfrm>
              <a:off x="0" y="0"/>
              <a:ext cx="24409400" cy="13741400"/>
            </a:xfrm>
            <a:custGeom>
              <a:avLst/>
              <a:gdLst/>
              <a:ahLst/>
              <a:cxnLst/>
              <a:rect l="l" t="t" r="r" b="b"/>
              <a:pathLst>
                <a:path w="24409400" h="13741400">
                  <a:moveTo>
                    <a:pt x="12700" y="0"/>
                  </a:moveTo>
                  <a:lnTo>
                    <a:pt x="24396700" y="0"/>
                  </a:lnTo>
                  <a:cubicBezTo>
                    <a:pt x="24403686" y="0"/>
                    <a:pt x="24409400" y="5715"/>
                    <a:pt x="24409400" y="12700"/>
                  </a:cubicBezTo>
                  <a:lnTo>
                    <a:pt x="24409400" y="13728700"/>
                  </a:lnTo>
                  <a:cubicBezTo>
                    <a:pt x="24409400" y="13735686"/>
                    <a:pt x="24403686" y="13741400"/>
                    <a:pt x="24396700" y="13741400"/>
                  </a:cubicBezTo>
                  <a:lnTo>
                    <a:pt x="12700" y="13741400"/>
                  </a:lnTo>
                  <a:cubicBezTo>
                    <a:pt x="5715" y="13741400"/>
                    <a:pt x="0" y="13735686"/>
                    <a:pt x="0" y="13728700"/>
                  </a:cubicBezTo>
                  <a:lnTo>
                    <a:pt x="0" y="12700"/>
                  </a:lnTo>
                  <a:cubicBezTo>
                    <a:pt x="0" y="5715"/>
                    <a:pt x="5715" y="0"/>
                    <a:pt x="12700" y="0"/>
                  </a:cubicBezTo>
                  <a:moveTo>
                    <a:pt x="12700" y="25400"/>
                  </a:moveTo>
                  <a:lnTo>
                    <a:pt x="12700" y="12700"/>
                  </a:lnTo>
                  <a:lnTo>
                    <a:pt x="25400" y="12700"/>
                  </a:lnTo>
                  <a:lnTo>
                    <a:pt x="25400" y="13728700"/>
                  </a:lnTo>
                  <a:lnTo>
                    <a:pt x="12700" y="13728700"/>
                  </a:lnTo>
                  <a:lnTo>
                    <a:pt x="12700" y="13716000"/>
                  </a:lnTo>
                  <a:lnTo>
                    <a:pt x="24396700" y="13716000"/>
                  </a:lnTo>
                  <a:lnTo>
                    <a:pt x="24396700" y="13728700"/>
                  </a:lnTo>
                  <a:lnTo>
                    <a:pt x="24384000" y="13728700"/>
                  </a:lnTo>
                  <a:lnTo>
                    <a:pt x="24384000" y="12700"/>
                  </a:lnTo>
                  <a:lnTo>
                    <a:pt x="24396700" y="12700"/>
                  </a:lnTo>
                  <a:lnTo>
                    <a:pt x="24396700" y="25400"/>
                  </a:lnTo>
                  <a:lnTo>
                    <a:pt x="12700" y="25400"/>
                  </a:lnTo>
                  <a:close/>
                </a:path>
              </a:pathLst>
            </a:custGeom>
            <a:solidFill>
              <a:srgbClr val="595959"/>
            </a:solidFill>
          </p:spPr>
        </p:sp>
      </p:grpSp>
      <p:sp>
        <p:nvSpPr>
          <p:cNvPr id="5" name="Freeform 5"/>
          <p:cNvSpPr/>
          <p:nvPr/>
        </p:nvSpPr>
        <p:spPr>
          <a:xfrm>
            <a:off x="945979" y="1591833"/>
            <a:ext cx="6718467" cy="1893386"/>
          </a:xfrm>
          <a:custGeom>
            <a:avLst/>
            <a:gdLst/>
            <a:ahLst/>
            <a:cxnLst/>
            <a:rect l="l" t="t" r="r" b="b"/>
            <a:pathLst>
              <a:path w="6718467" h="1893386">
                <a:moveTo>
                  <a:pt x="0" y="0"/>
                </a:moveTo>
                <a:lnTo>
                  <a:pt x="6718467" y="0"/>
                </a:lnTo>
                <a:lnTo>
                  <a:pt x="6718467" y="1893386"/>
                </a:lnTo>
                <a:lnTo>
                  <a:pt x="0" y="1893386"/>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6" name="Freeform 6"/>
          <p:cNvSpPr/>
          <p:nvPr/>
        </p:nvSpPr>
        <p:spPr>
          <a:xfrm>
            <a:off x="7532674" y="179736"/>
            <a:ext cx="893237" cy="1345973"/>
          </a:xfrm>
          <a:custGeom>
            <a:avLst/>
            <a:gdLst/>
            <a:ahLst/>
            <a:cxnLst/>
            <a:rect l="l" t="t" r="r" b="b"/>
            <a:pathLst>
              <a:path w="893237" h="1345973">
                <a:moveTo>
                  <a:pt x="0" y="0"/>
                </a:moveTo>
                <a:lnTo>
                  <a:pt x="893237" y="0"/>
                </a:lnTo>
                <a:lnTo>
                  <a:pt x="893237" y="1345973"/>
                </a:lnTo>
                <a:lnTo>
                  <a:pt x="0" y="1345973"/>
                </a:lnTo>
                <a:lnTo>
                  <a:pt x="0" y="0"/>
                </a:lnTo>
                <a:close/>
              </a:path>
            </a:pathLst>
          </a:custGeom>
          <a:blipFill>
            <a:blip r:embed="rId3"/>
            <a:stretch>
              <a:fillRect/>
            </a:stretch>
          </a:blipFill>
        </p:spPr>
      </p:sp>
      <p:sp>
        <p:nvSpPr>
          <p:cNvPr id="7" name="Freeform 7"/>
          <p:cNvSpPr/>
          <p:nvPr/>
        </p:nvSpPr>
        <p:spPr>
          <a:xfrm>
            <a:off x="86256" y="3758197"/>
            <a:ext cx="1385303" cy="1385303"/>
          </a:xfrm>
          <a:custGeom>
            <a:avLst/>
            <a:gdLst/>
            <a:ahLst/>
            <a:cxnLst/>
            <a:rect l="l" t="t" r="r" b="b"/>
            <a:pathLst>
              <a:path w="1385303" h="1385303">
                <a:moveTo>
                  <a:pt x="0" y="0"/>
                </a:moveTo>
                <a:lnTo>
                  <a:pt x="1385303" y="0"/>
                </a:lnTo>
                <a:lnTo>
                  <a:pt x="1385303" y="1385303"/>
                </a:lnTo>
                <a:lnTo>
                  <a:pt x="0" y="1385303"/>
                </a:lnTo>
                <a:lnTo>
                  <a:pt x="0" y="0"/>
                </a:lnTo>
                <a:close/>
              </a:path>
            </a:pathLst>
          </a:custGeom>
          <a:blipFill>
            <a:blip r:embed="rId4"/>
            <a:stretch>
              <a:fillRect/>
            </a:stretch>
          </a:blipFill>
        </p:spPr>
      </p:sp>
      <p:sp>
        <p:nvSpPr>
          <p:cNvPr id="8" name="TextBox 8"/>
          <p:cNvSpPr txBox="1"/>
          <p:nvPr/>
        </p:nvSpPr>
        <p:spPr>
          <a:xfrm>
            <a:off x="8913053" y="4882825"/>
            <a:ext cx="157094" cy="180690"/>
          </a:xfrm>
          <a:prstGeom prst="rect">
            <a:avLst/>
          </a:prstGeom>
        </p:spPr>
        <p:txBody>
          <a:bodyPr wrap="none" lIns="0" tIns="0" rIns="0" bIns="0" rtlCol="0" anchor="t">
            <a:spAutoFit/>
          </a:bodyPr>
          <a:lstStyle/>
          <a:p>
            <a:pPr algn="ctr">
              <a:lnSpc>
                <a:spcPts val="1540"/>
              </a:lnSpc>
              <a:spcBef>
                <a:spcPct val="0"/>
              </a:spcBef>
            </a:pPr>
            <a:r>
              <a:rPr lang="en-US" sz="1100" dirty="0">
                <a:solidFill>
                  <a:srgbClr val="000000"/>
                </a:solidFill>
                <a:latin typeface="Canva Sans"/>
                <a:ea typeface="Canva Sans"/>
                <a:cs typeface="Canva Sans"/>
                <a:sym typeface="Canva Sans"/>
              </a:rPr>
              <a:t>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428</TotalTime>
  <Words>1201</Words>
  <Application>Microsoft Office PowerPoint</Application>
  <PresentationFormat>On-screen Show (16:9)</PresentationFormat>
  <Paragraphs>119</Paragraphs>
  <Slides>13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vt:i4>
      </vt:variant>
    </vt:vector>
  </HeadingPairs>
  <TitlesOfParts>
    <vt:vector size="23" baseType="lpstr">
      <vt:lpstr>Arial</vt:lpstr>
      <vt:lpstr>Times New Roman MT</vt:lpstr>
      <vt:lpstr>Canva Sans</vt:lpstr>
      <vt:lpstr>Arial MT Pro Bold</vt:lpstr>
      <vt:lpstr>Arimo</vt:lpstr>
      <vt:lpstr>Arial MT Pro</vt:lpstr>
      <vt:lpstr>Calibri</vt:lpstr>
      <vt:lpstr>Canva Sans Bold</vt:lpstr>
      <vt:lpstr>Times New Roman MT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Group_15 Major Project Presentation</dc:title>
  <cp:lastModifiedBy>Savin Johnson</cp:lastModifiedBy>
  <cp:revision>2</cp:revision>
  <dcterms:created xsi:type="dcterms:W3CDTF">2006-08-16T00:00:00Z</dcterms:created>
  <dcterms:modified xsi:type="dcterms:W3CDTF">2026-05-25T02:39:40Z</dcterms:modified>
  <dc:identifier>DAHCuuhOwDw</dc:identifier>
</cp:coreProperties>
</file>